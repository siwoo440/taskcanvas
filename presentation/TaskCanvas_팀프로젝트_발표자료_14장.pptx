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
  <Relationship Id="rId20" Type="http://schemas.openxmlformats.org/officeDocument/2006/relationships/slide" Target="slides/slide14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TaskCanvas는 4명이 3주 동안 만드는 실시간 협업 화이트보드입니다.</a:t>
            </a:r>
          </a:p>
          <a:p>
            <a:r>
              <a:rPr lang="ko-KR" dirty="0"/>
              <a:t>표지 그림은 기획 단계의 콘셉트 이미지이고, 4·9·10·11장의 화면은 실제 구현을 브라우저에서 캡처한 것입니다.</a:t>
            </a:r>
          </a:p>
          <a:p>
            <a:r>
              <a:rPr lang="ko-KR" dirty="0"/>
              <a:t>이 자료는 4차 결정(게스트 입장·이미지 10MB·학교 PC LAN)을 반영한 14장 개정판입니다.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보드를 중심으로 아이디어와 업무 정보를 한곳에 모으는 것이 목표입니다.</a:t>
            </a:r>
          </a:p>
          <a:p>
            <a:r>
              <a:rPr lang="ko-KR" dirty="0"/>
              <a:t>회원가입 없이 이름만 정해 작업실을 직접 만들거나, 이름과 초대 코드로 들어오는 게스트 구조입니다.</a:t>
            </a:r>
          </a:p>
          <a:p>
            <a:r>
              <a:rPr lang="ko-KR" dirty="0"/>
              <a:t>학교 PC 1대를 서버로 두고 같은 LAN의 PC 4대가 접속합니다.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이름만 정해 작업실을 직접 만들면 그 사람이 관리자가 되어 역할별 초대 코드를 발급하고, 팀원은 이름과 코드로 입장합니다.</a:t>
            </a:r>
          </a:p>
          <a:p>
            <a:r>
              <a:rPr lang="ko-KR" dirty="0"/>
              <a:t>입장하면 첫 화면이 작업실로 바뀌고, 보드를 골라 편집합니다.</a:t>
            </a:r>
          </a:p>
          <a:p>
            <a:r>
              <a:rPr lang="ko-KR" dirty="0"/>
              <a:t>편집 내용은 놓는 순간 저장되어 새로고침이나 재접속 뒤에도 복원됩니다.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시연용 예시 보드를 실제 브라우저(Chrome)에서 캡처한 화면입니다.</a:t>
            </a:r>
          </a:p>
          <a:p>
            <a:r>
              <a:rPr lang="ko-KR" dirty="0"/>
              <a:t>왼쪽은 도구, 가운데는 캔버스, 오른쪽은 속성과 단축키 안내입니다.</a:t>
            </a:r>
          </a:p>
          <a:p>
            <a:r>
              <a:rPr lang="ko-KR" dirty="0"/>
              <a:t>화면은 PC 전용이며, 예시 내용은 seed-demo 스크립트로 언제든 다시 만들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P0는 펜·도형, 외부 영상 임베드, 이미지 업로드 세 가지입니다.</a:t>
            </a:r>
          </a:p>
          <a:p>
            <a:r>
              <a:rPr lang="ko-KR" dirty="0"/>
              <a:t>이미지는 PNG·JPG·WEBP, 파일당 10MB까지이며 서버에서 형식과 크기를 검사합니다.</a:t>
            </a:r>
          </a:p>
          <a:p>
            <a:r>
              <a:rPr lang="ko-KR" dirty="0"/>
              <a:t>P1인 메모, 공유 업무와 작업실의 업무 현황판, 연결선, 다중 선택, 실행 취소, PNG 내보내기도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커서와 그리는 중인 펜 획은 저장하지 않고 화면에만 전달합니다.</a:t>
            </a:r>
          </a:p>
          <a:p>
            <a:r>
              <a:rPr lang="ko-KR" dirty="0"/>
              <a:t>객체는 먼저 잡은 사람만 수정할 수 있고, 잠금은 완료·연결 종료·30초 만료 때 풀립니다.</a:t>
            </a:r>
          </a:p>
          <a:p>
            <a:r>
              <a:rPr lang="ko-KR" dirty="0"/>
              <a:t>확정한 변경만 DB에 저장하므로, 확정 전에 끊기면 마지막 저장 상태로 복원됩니다.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웹페이지와 일반 API는 Apache+PHP가, 실시간 편집은 별도 Node.js 서버가 처리합니다.</a:t>
            </a:r>
          </a:p>
          <a:p>
            <a:r>
              <a:rPr lang="ko-KR" dirty="0"/>
              <a:t>Node.js는 PHP 세션을 직접 믿지 않고, PHP가 발급한 60초짜리 1회용 티켓으로 사용자를 확인합니다.</a:t>
            </a:r>
          </a:p>
          <a:p>
            <a:r>
              <a:rPr lang="ko-KR" dirty="0"/>
              <a:t>최종 상태는 MySQL에, 이미지 파일은 웹 루트 밖 저장소에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총 4명이며 A는 본인(기획·통합·QA)으로 확정, B·C·D는 역할 기준 배정입니다.</a:t>
            </a:r>
          </a:p>
          <a:p>
            <a:r>
              <a:rPr lang="ko-KR" dirty="0"/>
              <a:t>팀원이 확정되면 A·B·C·D를 실제 이름으로 바꿉니다.</a:t>
            </a:r>
          </a:p>
          <a:p>
            <a:r>
              <a:rPr lang="ko-KR" dirty="0"/>
              <a:t>데이터 형식·API·이벤트 이름은 역할과 상관없이 함께 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B는 눈에 보이는 화이트보드 화면과 조작을 맡습니다.</a:t>
            </a:r>
          </a:p>
          <a:p>
            <a:r>
              <a:rPr lang="ko-KR" dirty="0"/>
              <a:t>객체를 그리거나 옮길 때 Socket.IO 이벤트를 보내므로 C와의 규격 합의가 중요합니다.</a:t>
            </a:r>
          </a:p>
          <a:p>
            <a:r>
              <a:rPr lang="ko-KR" dirty="0"/>
              <a:t>오른쪽은 메모를 편집하는 실제 구현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C는 시연의 핵심인 동시 편집을 맡습니다.</a:t>
            </a:r>
          </a:p>
          <a:p>
            <a:r>
              <a:rPr lang="ko-KR" dirty="0"/>
              <a:t>커서와 펜 미리보기는 저장하지 않고, 확정 이벤트만 DB에 저장합니다.</a:t>
            </a:r>
          </a:p>
          <a:p>
            <a:r>
              <a:rPr lang="ko-KR" dirty="0"/>
              <a:t>오른쪽은 다른 사용자가 잡고 있는 객체에 잠금 표시가 뜬 실제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D는 입장·권한·저장 구조를 맡습니다.</a:t>
            </a:r>
          </a:p>
          <a:p>
            <a:r>
              <a:rPr lang="ko-KR" dirty="0"/>
              <a:t>원본 업무는 보드 객체와 따로 저장해, 보드에서 블럭을 지워도 업무는 남습니다.</a:t>
            </a:r>
          </a:p>
          <a:p>
            <a:r>
              <a:rPr lang="ko-KR" dirty="0"/>
              <a:t>오른쪽은 입장 후 작업실의 실제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1주 차 통신 기반, 2주 차 4인 공동 편집, 3주 차 안정화와 P1 순서입니다.</a:t>
            </a:r>
          </a:p>
          <a:p>
            <a:r>
              <a:rPr lang="ko-KR" dirty="0"/>
              <a:t>2주 차가 끝났을 때 P0가 미완성이면 P1은 미루고 안정화에 집중합니다.</a:t>
            </a:r>
          </a:p>
          <a:p>
            <a:r>
              <a:rPr lang="ko-KR" dirty="0"/>
              <a:t>성공 기준은 PC 4대에서 끊김 없이 동시 편집하는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수용 기준 32개 중 28개는 자동 검사로, 3개는 브라우저에서 직접 확인해 통과했습니다.</a:t>
            </a:r>
          </a:p>
          <a:p>
            <a:r>
              <a:rPr lang="ko-KR" dirty="0"/>
              <a:t>수용 기준과 별도로 접속 출처와 요청 제한 보안 점검, 업로드 정리 운영 점검, 브라우저 네 개로 시연 순서를 그대로 돌리는 자동 리허설 14개 항목도 통과했습니다.</a:t>
            </a:r>
          </a:p>
          <a:p>
            <a:r>
              <a:rPr lang="ko-KR" dirty="0"/>
              <a:t>결과는 개발 PC 1대에서 확인한 것이라 LAN 구간은 들어 있지 않습니다.</a:t>
            </a:r>
          </a:p>
          <a:p>
            <a:r>
              <a:rPr lang="ko-KR" dirty="0"/>
              <a:t>학교 PC 4대로 접속하는 AC15는 아직 실행하지 못했고, 시연 전 리허설에서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가장 큰 위험은 학교 PC에서 Node.js 실행과 포트 접근이 막히는 것입니다.</a:t>
            </a:r>
          </a:p>
          <a:p>
            <a:r>
              <a:rPr lang="ko-KR" dirty="0"/>
              <a:t>첫날 서버 PC의 사전 점검 스크립트와 접속 PC의 접속 점검 화면으로 확인합니다.</a:t>
            </a:r>
          </a:p>
          <a:p>
            <a:r>
              <a:rPr lang="ko-KR" dirty="0"/>
              <a:t>동시 편집 충돌은 서버 잠금과 버전 검사로 막고, 범위 위험은 P0 우선 원칙으로 관리합니다.</a:t>
            </a:r>
          </a:p>
          <a:p>
            <a:r>
              <a:rPr lang="ko-KR" dirty="0"/>
              <a:t>주차별 실패 기준을 미리 정해, 넘지 못하면 새 기능을 멈추고 시연 범위를 고정합니다.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11112"/>
            <a:ext cx="29260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BB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11112"/>
            <a:ext cx="29260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BB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100" Type="http://schemas.openxmlformats.org/officeDocument/2006/relationships/image" Target="../media/shot-05-board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100" Type="http://schemas.openxmlformats.org/officeDocument/2006/relationships/image" Target="../media/shot-08-note-edit.png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100" Type="http://schemas.openxmlformats.org/officeDocument/2006/relationships/image" Target="../media/shot-06-board-lock.pn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100" Type="http://schemas.openxmlformats.org/officeDocument/2006/relationships/image" Target="../media/shot-03-workspace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taskcanvas_build/assets/cov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 소개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4명 · 3주 · 학교 PC LAN — 가입 없이 직접 만들거나 초대 코드로 들어오는 공동 작업 공간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17220" y="2253996"/>
            <a:ext cx="5632704" cy="3410712"/>
          </a:xfrm>
          <a:prstGeom prst="roundRect">
            <a:avLst>
              <a:gd name="adj" fmla="val 3753"/>
            </a:avLst>
          </a:prstGeom>
          <a:solidFill>
            <a:srgbClr val="111D44"/>
          </a:solidFill>
          <a:ln w="11430">
            <a:solidFill>
              <a:srgbClr val="4166C4"/>
            </a:solidFill>
            <a:prstDash val="solid"/>
          </a:ln>
        </p:spPr>
      </p:sp>
      <p:pic>
        <p:nvPicPr>
          <p:cNvPr id="30" name="Image 0" descr="/mnt/data/_taskcanvas_build/assets/illustration_col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304288"/>
            <a:ext cx="5532120" cy="331012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04672" y="5806440"/>
            <a:ext cx="5321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하나의 공간에서 함께 기획하고 제작</a:t>
            </a:r>
            <a:endParaRPr lang="en-US" sz="1420" dirty="0"/>
          </a:p>
        </p:txBody>
      </p:sp>
      <p:sp>
        <p:nvSpPr>
          <p:cNvPr id="32" name="Shape 29"/>
          <p:cNvSpPr/>
          <p:nvPr/>
        </p:nvSpPr>
        <p:spPr>
          <a:xfrm>
            <a:off x="6455664" y="2093976"/>
            <a:ext cx="5084064" cy="1609344"/>
          </a:xfrm>
          <a:prstGeom prst="roundRect">
            <a:avLst>
              <a:gd name="adj" fmla="val 6818"/>
            </a:avLst>
          </a:prstGeom>
          <a:solidFill>
            <a:srgbClr val="122146"/>
          </a:solidFill>
          <a:ln w="11430">
            <a:solidFill>
              <a:srgbClr val="405DA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2322576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방식의 문제</a:t>
            </a:r>
            <a:endParaRPr lang="en-US" sz="1320" dirty="0"/>
          </a:p>
        </p:txBody>
      </p:sp>
      <p:sp>
        <p:nvSpPr>
          <p:cNvPr id="34" name="Shape 31"/>
          <p:cNvSpPr/>
          <p:nvPr/>
        </p:nvSpPr>
        <p:spPr>
          <a:xfrm>
            <a:off x="6711696" y="2862072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85432" y="271576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아이디어와 업무를 서로 다른 도구에서 관리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711696" y="3172968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85432" y="3026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공동 편집과 피드백 과정이 단절됨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711696" y="3483864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85432" y="333756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파일·링크·작업 흐름을 한눈에 보기 어려움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455664" y="3877056"/>
            <a:ext cx="5084064" cy="1691640"/>
          </a:xfrm>
          <a:prstGeom prst="roundRect">
            <a:avLst>
              <a:gd name="adj" fmla="val 6486"/>
            </a:avLst>
          </a:prstGeom>
          <a:solidFill>
            <a:srgbClr val="122146"/>
          </a:solidFill>
          <a:ln w="11430">
            <a:solidFill>
              <a:srgbClr val="405DA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93408" y="4114800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우리가 만든 서비스</a:t>
            </a:r>
            <a:endParaRPr lang="en-US" sz="1320" dirty="0"/>
          </a:p>
        </p:txBody>
      </p:sp>
      <p:sp>
        <p:nvSpPr>
          <p:cNvPr id="42" name="Shape 39"/>
          <p:cNvSpPr/>
          <p:nvPr/>
        </p:nvSpPr>
        <p:spPr>
          <a:xfrm>
            <a:off x="6711696" y="4636008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85432" y="448970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4명이 같은 보드에서 즉시 편집</a:t>
            </a:r>
            <a:endParaRPr lang="en-US" sz="1220" dirty="0"/>
          </a:p>
        </p:txBody>
      </p:sp>
      <p:sp>
        <p:nvSpPr>
          <p:cNvPr id="44" name="Shape 41"/>
          <p:cNvSpPr/>
          <p:nvPr/>
        </p:nvSpPr>
        <p:spPr>
          <a:xfrm>
            <a:off x="6711696" y="4965192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85432" y="4818888"/>
            <a:ext cx="4361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회원가입 없이 작업실을 만들거나 초대 코드로 입장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711696" y="530352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85432" y="5157216"/>
            <a:ext cx="4361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 1대가 서버, 같은 LAN의 PC 4대가 접속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464808" y="5824728"/>
            <a:ext cx="1399032" cy="301752"/>
          </a:xfrm>
          <a:prstGeom prst="roundRect">
            <a:avLst>
              <a:gd name="adj" fmla="val 36364"/>
            </a:avLst>
          </a:prstGeom>
          <a:solidFill>
            <a:srgbClr val="143564"/>
          </a:solidFill>
          <a:ln w="11430">
            <a:solidFill>
              <a:srgbClr val="276CB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37960" y="5824728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동시 편집</a:t>
            </a:r>
            <a:endParaRPr lang="en-US" sz="1030" dirty="0"/>
          </a:p>
        </p:txBody>
      </p:sp>
      <p:sp>
        <p:nvSpPr>
          <p:cNvPr id="50" name="Shape 47"/>
          <p:cNvSpPr/>
          <p:nvPr/>
        </p:nvSpPr>
        <p:spPr>
          <a:xfrm>
            <a:off x="8010144" y="5824728"/>
            <a:ext cx="1572768" cy="301752"/>
          </a:xfrm>
          <a:prstGeom prst="roundRect">
            <a:avLst>
              <a:gd name="adj" fmla="val 36364"/>
            </a:avLst>
          </a:prstGeom>
          <a:solidFill>
            <a:srgbClr val="2B245E"/>
          </a:solidFill>
          <a:ln w="11430">
            <a:solidFill>
              <a:srgbClr val="6A56B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83296" y="582472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입장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9738360" y="5824728"/>
            <a:ext cx="1335024" cy="301752"/>
          </a:xfrm>
          <a:prstGeom prst="roundRect">
            <a:avLst>
              <a:gd name="adj" fmla="val 36364"/>
            </a:avLst>
          </a:prstGeom>
          <a:solidFill>
            <a:srgbClr val="15385D"/>
          </a:solidFill>
          <a:ln w="11430">
            <a:solidFill>
              <a:srgbClr val="2776A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811512" y="582472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 LAN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사용 흐름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작업실 만들기 → 초대 → 게스트 입장 → 보드 편집 → 자동 저장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94360" y="2112264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3768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2304288"/>
            <a:ext cx="502920" cy="502920"/>
          </a:xfrm>
          <a:prstGeom prst="ellipse">
            <a:avLst/>
          </a:prstGeom>
          <a:solidFill>
            <a:srgbClr val="153D75"/>
          </a:solidFill>
          <a:ln w="15240">
            <a:solidFill>
              <a:srgbClr val="67D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2386584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80744" y="229514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작업실 만들기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" y="288036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직접 만들고 역할별 초대 코드 발급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4453128" y="2112264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6454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304288"/>
            <a:ext cx="502920" cy="502920"/>
          </a:xfrm>
          <a:prstGeom prst="ellipse">
            <a:avLst/>
          </a:prstGeom>
          <a:solidFill>
            <a:srgbClr val="37266C"/>
          </a:solidFill>
          <a:ln w="15240">
            <a:solidFill>
              <a:srgbClr val="A98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2386584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39512" y="229514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입장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81728" y="288036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이름과 초대 코드만 입력, 가입 없음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8311896" y="2112264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3768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76488" y="2304288"/>
            <a:ext cx="502920" cy="502920"/>
          </a:xfrm>
          <a:prstGeom prst="ellipse">
            <a:avLst/>
          </a:prstGeom>
          <a:solidFill>
            <a:srgbClr val="153D75"/>
          </a:solidFill>
          <a:ln w="15240">
            <a:solidFill>
              <a:srgbClr val="67DD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2386584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98280" y="229514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작업실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40496" y="288036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보드 목록·업무 현황판·참여자 확인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594360" y="3913632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6454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" y="4105656"/>
            <a:ext cx="502920" cy="502920"/>
          </a:xfrm>
          <a:prstGeom prst="ellipse">
            <a:avLst/>
          </a:prstGeom>
          <a:solidFill>
            <a:srgbClr val="37266C"/>
          </a:solidFill>
          <a:ln w="15240">
            <a:solidFill>
              <a:srgbClr val="A98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" y="4187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380744" y="40965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보드 편집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2960" y="4681728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펜·도형·메모·이미지·영상 배치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4453128" y="3913632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3768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4105656"/>
            <a:ext cx="502920" cy="502920"/>
          </a:xfrm>
          <a:prstGeom prst="ellipse">
            <a:avLst/>
          </a:prstGeom>
          <a:solidFill>
            <a:srgbClr val="153D75"/>
          </a:solidFill>
          <a:ln w="15240">
            <a:solidFill>
              <a:srgbClr val="67DD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187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39512" y="40965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협업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81728" y="4681728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참여자 커서·객체 잠금·즉시 공유</a:t>
            </a:r>
            <a:endParaRPr lang="en-US" sz="1180" dirty="0"/>
          </a:p>
        </p:txBody>
      </p:sp>
      <p:sp>
        <p:nvSpPr>
          <p:cNvPr id="54" name="Shape 52"/>
          <p:cNvSpPr/>
          <p:nvPr/>
        </p:nvSpPr>
        <p:spPr>
          <a:xfrm>
            <a:off x="8311896" y="3913632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6454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76488" y="4105656"/>
            <a:ext cx="502920" cy="502920"/>
          </a:xfrm>
          <a:prstGeom prst="ellipse">
            <a:avLst/>
          </a:prstGeom>
          <a:solidFill>
            <a:srgbClr val="37266C"/>
          </a:solidFill>
          <a:ln w="15240">
            <a:solidFill>
              <a:srgbClr val="A98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4187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098280" y="40965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저장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40496" y="4681728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놓는 순간 저장·재접속 시 복원</a:t>
            </a:r>
            <a:endParaRPr lang="en-US" sz="1180" dirty="0"/>
          </a:p>
        </p:txBody>
      </p:sp>
      <p:sp>
        <p:nvSpPr>
          <p:cNvPr id="59" name="Text 57"/>
          <p:cNvSpPr/>
          <p:nvPr/>
        </p:nvSpPr>
        <p:spPr>
          <a:xfrm>
            <a:off x="4050792" y="251460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7900416" y="251460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4050792" y="4334256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7900416" y="4334256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621792" y="5742432"/>
            <a:ext cx="10945368" cy="493776"/>
          </a:xfrm>
          <a:prstGeom prst="roundRect">
            <a:avLst>
              <a:gd name="adj" fmla="val 22222"/>
            </a:avLst>
          </a:prstGeom>
          <a:solidFill>
            <a:srgbClr val="0D1E43"/>
          </a:solidFill>
          <a:ln w="11430">
            <a:solidFill>
              <a:srgbClr val="34548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" y="58613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시연 포인트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2514600" y="5852160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동시 편집   /   그리는 중 즉시 반영   /   새로고침 후에도 그대로 복원</a:t>
            </a:r>
            <a:endParaRPr lang="en-US" sz="12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 화면 구성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왼쪽 툴바 · 중앙 캔버스 · 오른쪽 패널 — 시연용 예시 보드를 실제 브라우저에서 캡처한 화면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300" name="Box 300"/>
          <p:cNvSpPr/>
          <p:nvPr/>
        </p:nvSpPr>
        <p:spPr>
          <a:xfrm>
            <a:off x="548640" y="2039112"/>
            <a:ext cx="6784848" cy="4227443"/>
          </a:xfrm>
          <a:prstGeom prst="roundRect">
            <a:avLst>
              <a:gd name="adj" fmla="val 3028"/>
            </a:avLst>
          </a:prstGeom>
          <a:solidFill>
            <a:srgbClr val="0D1837"/>
          </a:solidFill>
          <a:ln w="11430">
            <a:solidFill>
              <a:srgbClr val="4162C1"/>
            </a:solidFill>
            <a:prstDash val="solid"/>
          </a:ln>
        </p:spPr>
      </p:sp>
      <p:pic>
        <p:nvPicPr>
          <p:cNvPr id="301" name="Picture 301" descr="TaskCanvas 보드 화면: 왼쪽 도구 모음, 가운데 메모·도형·연결선·업무 블럭이 놓인 캔버스, 오른쪽 속성 패널"/>
          <p:cNvPicPr>
            <a:picLocks noChangeAspect="1"/>
          </p:cNvPicPr>
          <p:nvPr/>
        </p:nvPicPr>
        <p:blipFill>
          <a:blip r:embed="rId100"/>
          <a:srcRect b="1300"/>
          <a:stretch>
            <a:fillRect/>
          </a:stretch>
        </p:blipFill>
        <p:spPr>
          <a:xfrm>
            <a:off x="603504" y="2093976"/>
            <a:ext cx="6675120" cy="4117715"/>
          </a:xfrm>
          <a:prstGeom prst="roundRect">
            <a:avLst>
              <a:gd name="adj" fmla="val 1777"/>
            </a:avLst>
          </a:prstGeom>
        </p:spPr>
      </p:pic>
      <p:sp>
        <p:nvSpPr>
          <p:cNvPr id="302" name="Box 302"/>
          <p:cNvSpPr/>
          <p:nvPr/>
        </p:nvSpPr>
        <p:spPr>
          <a:xfrm>
            <a:off x="7552944" y="2039112"/>
            <a:ext cx="4041648" cy="932688"/>
          </a:xfrm>
          <a:prstGeom prst="roundRect">
            <a:avLst>
              <a:gd name="adj" fmla="val 13725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303" name="Text 303"/>
          <p:cNvSpPr txBox="1"/>
          <p:nvPr/>
        </p:nvSpPr>
        <p:spPr>
          <a:xfrm>
            <a:off x="7763256" y="219456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툴바</a:t>
            </a:r>
            <a:endParaRPr lang="en-US" sz="1320" dirty="0"/>
          </a:p>
        </p:txBody>
      </p:sp>
      <p:sp>
        <p:nvSpPr>
          <p:cNvPr id="304" name="Text 304"/>
          <p:cNvSpPr txBox="1"/>
          <p:nvPr/>
        </p:nvSpPr>
        <p:spPr>
          <a:xfrm>
            <a:off x="7763256" y="252374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선택·연결선·펜·도형·메모·이미지·영상·업무 도구</a:t>
            </a:r>
            <a:endParaRPr lang="en-US" sz="1080" dirty="0"/>
          </a:p>
        </p:txBody>
      </p:sp>
      <p:sp>
        <p:nvSpPr>
          <p:cNvPr id="305" name="Box 305"/>
          <p:cNvSpPr/>
          <p:nvPr/>
        </p:nvSpPr>
        <p:spPr>
          <a:xfrm>
            <a:off x="7552944" y="3136392"/>
            <a:ext cx="4041648" cy="932688"/>
          </a:xfrm>
          <a:prstGeom prst="roundRect">
            <a:avLst>
              <a:gd name="adj" fmla="val 13725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306" name="Text 306"/>
          <p:cNvSpPr txBox="1"/>
          <p:nvPr/>
        </p:nvSpPr>
        <p:spPr>
          <a:xfrm>
            <a:off x="7763256" y="329184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캔버스</a:t>
            </a:r>
            <a:endParaRPr lang="en-US" sz="1320" dirty="0"/>
          </a:p>
        </p:txBody>
      </p:sp>
      <p:sp>
        <p:nvSpPr>
          <p:cNvPr id="307" name="Text 307"/>
          <p:cNvSpPr txBox="1"/>
          <p:nvPr/>
        </p:nvSpPr>
        <p:spPr>
          <a:xfrm>
            <a:off x="7763256" y="362102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객체를 끌어서 이동하고 모서리 핸들로 크기 조절</a:t>
            </a:r>
            <a:endParaRPr lang="en-US" sz="1080" dirty="0"/>
          </a:p>
        </p:txBody>
      </p:sp>
      <p:sp>
        <p:nvSpPr>
          <p:cNvPr id="308" name="Box 308"/>
          <p:cNvSpPr/>
          <p:nvPr/>
        </p:nvSpPr>
        <p:spPr>
          <a:xfrm>
            <a:off x="7552944" y="4233672"/>
            <a:ext cx="4041648" cy="932688"/>
          </a:xfrm>
          <a:prstGeom prst="roundRect">
            <a:avLst>
              <a:gd name="adj" fmla="val 13725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309" name="Text 309"/>
          <p:cNvSpPr txBox="1"/>
          <p:nvPr/>
        </p:nvSpPr>
        <p:spPr>
          <a:xfrm>
            <a:off x="7763256" y="438912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오른쪽 패널</a:t>
            </a:r>
            <a:endParaRPr lang="en-US" sz="1320" dirty="0"/>
          </a:p>
        </p:txBody>
      </p:sp>
      <p:sp>
        <p:nvSpPr>
          <p:cNvPr id="310" name="Text 310"/>
          <p:cNvSpPr txBox="1"/>
          <p:nvPr/>
        </p:nvSpPr>
        <p:spPr>
          <a:xfrm>
            <a:off x="7763256" y="471830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색·굵기·채우기 속성, 업무 내용, 단축키 안내</a:t>
            </a:r>
            <a:endParaRPr lang="en-US" sz="1080" dirty="0"/>
          </a:p>
        </p:txBody>
      </p:sp>
      <p:sp>
        <p:nvSpPr>
          <p:cNvPr id="311" name="Box 311"/>
          <p:cNvSpPr/>
          <p:nvPr/>
        </p:nvSpPr>
        <p:spPr>
          <a:xfrm>
            <a:off x="7552944" y="5330952"/>
            <a:ext cx="4041648" cy="932688"/>
          </a:xfrm>
          <a:prstGeom prst="roundRect">
            <a:avLst>
              <a:gd name="adj" fmla="val 13725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312" name="Text 312"/>
          <p:cNvSpPr txBox="1"/>
          <p:nvPr/>
        </p:nvSpPr>
        <p:spPr>
          <a:xfrm>
            <a:off x="7763256" y="548640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상단 바</a:t>
            </a:r>
            <a:endParaRPr lang="en-US" sz="1320" dirty="0"/>
          </a:p>
        </p:txBody>
      </p:sp>
      <p:sp>
        <p:nvSpPr>
          <p:cNvPr id="313" name="Text 313"/>
          <p:cNvSpPr txBox="1"/>
          <p:nvPr/>
        </p:nvSpPr>
        <p:spPr>
          <a:xfrm>
            <a:off x="7763256" y="581558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보드 전환 · 참여자 · 실행 취소 · PNG 저장 · 연결 상태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기능과 우선순위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협업을 중심으로 핵심 객체 3종(P0)을 먼저 완성하고 P1을 더함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85216" y="2075688"/>
            <a:ext cx="3456432" cy="2907792"/>
          </a:xfrm>
          <a:prstGeom prst="roundRect">
            <a:avLst>
              <a:gd name="adj" fmla="val 3774"/>
            </a:avLst>
          </a:prstGeom>
          <a:solidFill>
            <a:srgbClr val="132449"/>
          </a:solidFill>
          <a:ln w="11430">
            <a:solidFill>
              <a:srgbClr val="3C60A3"/>
            </a:solidFill>
            <a:prstDash val="solid"/>
          </a:ln>
        </p:spPr>
      </p:sp>
      <p:pic>
        <p:nvPicPr>
          <p:cNvPr id="30" name="Image 0" descr="/mnt/data/_taskcanvas_build/assets/icon_d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1078992" cy="112471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029968" y="2441448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 · 도형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77824" y="35661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그리는 중 실시간 전달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사각형·원·크기 조절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선택·이동·삭제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77824" y="4590288"/>
            <a:ext cx="1627632" cy="256032"/>
          </a:xfrm>
          <a:prstGeom prst="roundRect">
            <a:avLst>
              <a:gd name="adj" fmla="val 42857"/>
            </a:avLst>
          </a:prstGeom>
          <a:solidFill>
            <a:srgbClr val="132E62"/>
          </a:solidFill>
          <a:ln w="11430">
            <a:solidFill>
              <a:srgbClr val="4267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0976" y="4590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· 구현 완료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361688" y="2075688"/>
            <a:ext cx="3456432" cy="2907792"/>
          </a:xfrm>
          <a:prstGeom prst="roundRect">
            <a:avLst>
              <a:gd name="adj" fmla="val 3774"/>
            </a:avLst>
          </a:prstGeom>
          <a:solidFill>
            <a:srgbClr val="132449"/>
          </a:solidFill>
          <a:ln w="11430">
            <a:solidFill>
              <a:srgbClr val="3C60A3"/>
            </a:solidFill>
            <a:prstDash val="solid"/>
          </a:ln>
        </p:spPr>
      </p:sp>
      <p:pic>
        <p:nvPicPr>
          <p:cNvPr id="36" name="Image 1" descr="/mnt/data/_taskcanvas_build/asset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331720"/>
            <a:ext cx="1078992" cy="112471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806440" y="2441448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영상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4654296" y="35661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YouTube·Vimeo URL 임베드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보드 안에서 바로 재생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서버가 임베드 주소 생성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4654296" y="4590288"/>
            <a:ext cx="1627632" cy="256032"/>
          </a:xfrm>
          <a:prstGeom prst="roundRect">
            <a:avLst>
              <a:gd name="adj" fmla="val 42857"/>
            </a:avLst>
          </a:prstGeom>
          <a:solidFill>
            <a:srgbClr val="132E62"/>
          </a:solidFill>
          <a:ln w="11430">
            <a:solidFill>
              <a:srgbClr val="4267C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27448" y="4590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· 구현 완료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138160" y="2075688"/>
            <a:ext cx="3456432" cy="2907792"/>
          </a:xfrm>
          <a:prstGeom prst="roundRect">
            <a:avLst>
              <a:gd name="adj" fmla="val 3774"/>
            </a:avLst>
          </a:prstGeom>
          <a:solidFill>
            <a:srgbClr val="132449"/>
          </a:solidFill>
          <a:ln w="11430">
            <a:solidFill>
              <a:srgbClr val="3C60A3"/>
            </a:solidFill>
            <a:prstDash val="solid"/>
          </a:ln>
        </p:spPr>
      </p:sp>
      <p:pic>
        <p:nvPicPr>
          <p:cNvPr id="42" name="Image 2" descr="/mnt/data/_taskcanvas_build/assets/icon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31720"/>
            <a:ext cx="1078992" cy="112471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582912" y="2441448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</a:t>
            </a:r>
            <a:endParaRPr lang="en-US" sz="1800" dirty="0"/>
          </a:p>
        </p:txBody>
      </p:sp>
      <p:sp>
        <p:nvSpPr>
          <p:cNvPr id="44" name="Text 39"/>
          <p:cNvSpPr/>
          <p:nvPr/>
        </p:nvSpPr>
        <p:spPr>
          <a:xfrm>
            <a:off x="8430768" y="35661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PNG·JPG·WEBP, 파일당 10MB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버튼·드래그·붙여넣기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서버에서 형식·크기 검사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430768" y="4590288"/>
            <a:ext cx="1627632" cy="256032"/>
          </a:xfrm>
          <a:prstGeom prst="roundRect">
            <a:avLst>
              <a:gd name="adj" fmla="val 42857"/>
            </a:avLst>
          </a:prstGeom>
          <a:solidFill>
            <a:srgbClr val="132E62"/>
          </a:solidFill>
          <a:ln w="11430">
            <a:solidFill>
              <a:srgbClr val="4267C7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503920" y="4590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· 구현 완료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40080" y="5266944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 · 추가 구현</a:t>
            </a:r>
            <a:endParaRPr lang="en-US" sz="1500" dirty="0"/>
          </a:p>
        </p:txBody>
      </p:sp>
      <p:sp>
        <p:nvSpPr>
          <p:cNvPr id="48" name="Shape 43"/>
          <p:cNvSpPr/>
          <p:nvPr/>
        </p:nvSpPr>
        <p:spPr>
          <a:xfrm>
            <a:off x="594360" y="5623560"/>
            <a:ext cx="2212848" cy="393192"/>
          </a:xfrm>
          <a:prstGeom prst="roundRect">
            <a:avLst>
              <a:gd name="adj" fmla="val 27907"/>
            </a:avLst>
          </a:prstGeom>
          <a:solidFill>
            <a:srgbClr val="142A59"/>
          </a:solidFill>
          <a:ln w="11430">
            <a:solidFill>
              <a:srgbClr val="355EA7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67512" y="5623560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메모 · 텍스트</a:t>
            </a:r>
            <a:endParaRPr lang="en-US" sz="1180" dirty="0"/>
          </a:p>
        </p:txBody>
      </p:sp>
      <p:sp>
        <p:nvSpPr>
          <p:cNvPr id="50" name="Shape 45"/>
          <p:cNvSpPr/>
          <p:nvPr/>
        </p:nvSpPr>
        <p:spPr>
          <a:xfrm>
            <a:off x="2980944" y="5623560"/>
            <a:ext cx="2066544" cy="393192"/>
          </a:xfrm>
          <a:prstGeom prst="roundRect">
            <a:avLst>
              <a:gd name="adj" fmla="val 27907"/>
            </a:avLst>
          </a:prstGeom>
          <a:solidFill>
            <a:srgbClr val="251E55"/>
          </a:solidFill>
          <a:ln w="11430">
            <a:solidFill>
              <a:srgbClr val="6854AD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054096" y="56235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공유 업무 블럭</a:t>
            </a:r>
            <a:endParaRPr lang="en-US" sz="1180" dirty="0"/>
          </a:p>
        </p:txBody>
      </p:sp>
      <p:sp>
        <p:nvSpPr>
          <p:cNvPr id="52" name="Shape 47"/>
          <p:cNvSpPr/>
          <p:nvPr/>
        </p:nvSpPr>
        <p:spPr>
          <a:xfrm>
            <a:off x="5221224" y="5623560"/>
            <a:ext cx="2221992" cy="393192"/>
          </a:xfrm>
          <a:prstGeom prst="roundRect">
            <a:avLst>
              <a:gd name="adj" fmla="val 27907"/>
            </a:avLst>
          </a:prstGeom>
          <a:solidFill>
            <a:srgbClr val="142A59"/>
          </a:solidFill>
          <a:ln w="11430">
            <a:solidFill>
              <a:srgbClr val="355EA7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294376" y="5623560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연결선 · 라벨</a:t>
            </a:r>
            <a:endParaRPr lang="en-US" sz="1180" dirty="0"/>
          </a:p>
        </p:txBody>
      </p:sp>
      <p:sp>
        <p:nvSpPr>
          <p:cNvPr id="54" name="Shape 49"/>
          <p:cNvSpPr/>
          <p:nvPr/>
        </p:nvSpPr>
        <p:spPr>
          <a:xfrm>
            <a:off x="7616952" y="5623560"/>
            <a:ext cx="1956816" cy="393192"/>
          </a:xfrm>
          <a:prstGeom prst="roundRect">
            <a:avLst>
              <a:gd name="adj" fmla="val 27907"/>
            </a:avLst>
          </a:prstGeom>
          <a:solidFill>
            <a:srgbClr val="251E55"/>
          </a:solidFill>
          <a:ln w="11430">
            <a:solidFill>
              <a:srgbClr val="6854AD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690104" y="5623560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다중 선택 이동</a:t>
            </a:r>
            <a:endParaRPr lang="en-US" sz="1180" dirty="0"/>
          </a:p>
        </p:txBody>
      </p:sp>
      <p:sp>
        <p:nvSpPr>
          <p:cNvPr id="56" name="Text 51"/>
          <p:cNvSpPr/>
          <p:nvPr/>
        </p:nvSpPr>
        <p:spPr>
          <a:xfrm>
            <a:off x="685800" y="616305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모든 변경은 놓는 순간 서버에 저장되고 새로고침 후 복원</a:t>
            </a:r>
            <a:endParaRPr lang="en-US" sz="1020" dirty="0"/>
          </a:p>
        </p:txBody>
      </p:sp>
      <p:sp>
        <p:nvSpPr>
          <p:cNvPr id="300" name="Added 300"/>
          <p:cNvSpPr/>
          <p:nvPr/>
        </p:nvSpPr>
        <p:spPr>
          <a:xfrm>
            <a:off x="9747504" y="5623560"/>
            <a:ext cx="1847088" cy="393192"/>
          </a:xfrm>
          <a:prstGeom prst="roundRect">
            <a:avLst>
              <a:gd name="adj" fmla="val 27907"/>
            </a:avLst>
          </a:prstGeom>
          <a:solidFill>
            <a:srgbClr val="142A59"/>
          </a:solidFill>
          <a:ln w="11430">
            <a:solidFill>
              <a:srgbClr val="355EA7"/>
            </a:solidFill>
            <a:prstDash val="solid"/>
          </a:ln>
        </p:spPr>
      </p:sp>
      <p:sp>
        <p:nvSpPr>
          <p:cNvPr id="301" name="Added 301"/>
          <p:cNvSpPr/>
          <p:nvPr/>
        </p:nvSpPr>
        <p:spPr>
          <a:xfrm>
            <a:off x="9820656" y="5623560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실행 취소 · PNG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협업 동작 방식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4대 PC · 동일 LAN · 즉시 동기화 · 작업 확정 시 저장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247388" y="2071116"/>
            <a:ext cx="7443216" cy="3675888"/>
          </a:xfrm>
          <a:prstGeom prst="roundRect">
            <a:avLst>
              <a:gd name="adj" fmla="val 3483"/>
            </a:avLst>
          </a:prstGeom>
          <a:solidFill>
            <a:srgbClr val="111D44"/>
          </a:solidFill>
          <a:ln w="11430">
            <a:solidFill>
              <a:srgbClr val="315AB0"/>
            </a:solidFill>
            <a:prstDash val="solid"/>
          </a:ln>
        </p:spPr>
      </p:sp>
      <p:pic>
        <p:nvPicPr>
          <p:cNvPr id="30" name="Image 0" descr="/mnt/data/_taskcanvas_build/assets/illustrati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121408"/>
            <a:ext cx="7342632" cy="3575304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12648" y="2121408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01F43"/>
          </a:solidFill>
          <a:ln w="11430">
            <a:solidFill>
              <a:srgbClr val="395A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6968" y="238658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1371600" y="2386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커서 · 펜 미리보기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3716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저장 없이 다른 화면에 즉시 전달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86968" y="3182112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320" dirty="0"/>
          </a:p>
        </p:txBody>
      </p:sp>
      <p:sp>
        <p:nvSpPr>
          <p:cNvPr id="36" name="Text 33"/>
          <p:cNvSpPr/>
          <p:nvPr/>
        </p:nvSpPr>
        <p:spPr>
          <a:xfrm>
            <a:off x="1371600" y="3182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객체별 잠금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371600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먼저 잡은 한 명만 수정 가능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86968" y="397764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320" dirty="0"/>
          </a:p>
        </p:txBody>
      </p:sp>
      <p:sp>
        <p:nvSpPr>
          <p:cNvPr id="39" name="Text 36"/>
          <p:cNvSpPr/>
          <p:nvPr/>
        </p:nvSpPr>
        <p:spPr>
          <a:xfrm>
            <a:off x="1371600" y="3977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잠금 자동 해제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371600" y="42885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완료·연결 종료·30초 만료 시 해제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86968" y="4773168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320" dirty="0"/>
          </a:p>
        </p:txBody>
      </p:sp>
      <p:sp>
        <p:nvSpPr>
          <p:cNvPr id="42" name="Text 39"/>
          <p:cNvSpPr/>
          <p:nvPr/>
        </p:nvSpPr>
        <p:spPr>
          <a:xfrm>
            <a:off x="137160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확정 시 DB 저장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371600" y="50840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미확정 변경은 복원하지 않음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58368" y="5897880"/>
            <a:ext cx="1993392" cy="347472"/>
          </a:xfrm>
          <a:prstGeom prst="roundRect">
            <a:avLst>
              <a:gd name="adj" fmla="val 31579"/>
            </a:avLst>
          </a:prstGeom>
          <a:solidFill>
            <a:srgbClr val="173767"/>
          </a:solidFill>
          <a:ln w="11430">
            <a:solidFill>
              <a:srgbClr val="3B6BB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31520" y="589788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편집 이벤트</a:t>
            </a:r>
            <a:endParaRPr lang="en-US" sz="1080" dirty="0"/>
          </a:p>
        </p:txBody>
      </p:sp>
      <p:sp>
        <p:nvSpPr>
          <p:cNvPr id="46" name="Text 43"/>
          <p:cNvSpPr/>
          <p:nvPr/>
        </p:nvSpPr>
        <p:spPr>
          <a:xfrm>
            <a:off x="2688336" y="5925312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3044952" y="5897880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251E54"/>
          </a:solidFill>
          <a:ln w="11430">
            <a:solidFill>
              <a:srgbClr val="6554B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118104" y="58978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Socket.IO 전달</a:t>
            </a:r>
            <a:endParaRPr lang="en-US" sz="1080" dirty="0"/>
          </a:p>
        </p:txBody>
      </p:sp>
      <p:sp>
        <p:nvSpPr>
          <p:cNvPr id="49" name="Text 46"/>
          <p:cNvSpPr/>
          <p:nvPr/>
        </p:nvSpPr>
        <p:spPr>
          <a:xfrm>
            <a:off x="5230368" y="5925312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1700" dirty="0"/>
          </a:p>
        </p:txBody>
      </p:sp>
      <p:sp>
        <p:nvSpPr>
          <p:cNvPr id="50" name="Shape 47"/>
          <p:cNvSpPr/>
          <p:nvPr/>
        </p:nvSpPr>
        <p:spPr>
          <a:xfrm>
            <a:off x="5577840" y="5897880"/>
            <a:ext cx="2240280" cy="347472"/>
          </a:xfrm>
          <a:prstGeom prst="roundRect">
            <a:avLst>
              <a:gd name="adj" fmla="val 31579"/>
            </a:avLst>
          </a:prstGeom>
          <a:solidFill>
            <a:srgbClr val="173767"/>
          </a:solidFill>
          <a:ln w="11430">
            <a:solidFill>
              <a:srgbClr val="3B6BB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50992" y="5897880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다른 화면 반영</a:t>
            </a:r>
            <a:endParaRPr lang="en-US" sz="1080" dirty="0"/>
          </a:p>
        </p:txBody>
      </p:sp>
      <p:sp>
        <p:nvSpPr>
          <p:cNvPr id="52" name="Text 49"/>
          <p:cNvSpPr/>
          <p:nvPr/>
        </p:nvSpPr>
        <p:spPr>
          <a:xfrm>
            <a:off x="7872984" y="5925312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220456" y="5897880"/>
            <a:ext cx="2834640" cy="347472"/>
          </a:xfrm>
          <a:prstGeom prst="roundRect">
            <a:avLst>
              <a:gd name="adj" fmla="val 31579"/>
            </a:avLst>
          </a:prstGeom>
          <a:solidFill>
            <a:srgbClr val="1C3555"/>
          </a:solidFill>
          <a:ln w="11430">
            <a:solidFill>
              <a:srgbClr val="48889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293608" y="589788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 확정 저장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시스템 기술 구조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웹서버 · 실시간 서버 · 데이터베이스의 역할 분리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069080" y="2029968"/>
            <a:ext cx="4087368" cy="713232"/>
          </a:xfrm>
          <a:prstGeom prst="roundRect">
            <a:avLst>
              <a:gd name="adj" fmla="val 15385"/>
            </a:avLst>
          </a:prstGeom>
          <a:solidFill>
            <a:srgbClr val="163362"/>
          </a:solidFill>
          <a:ln w="11430">
            <a:solidFill>
              <a:srgbClr val="4B8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8264" y="2167128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브라우저 / PC 4대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4352544" y="254203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HTML  ·  CSS  ·  JavaScript  ·  Canvas API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080760" y="2743200"/>
            <a:ext cx="0" cy="201168"/>
          </a:xfrm>
          <a:prstGeom prst="line">
            <a:avLst/>
          </a:prstGeom>
          <a:noFill/>
          <a:ln w="2540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611880" y="2944368"/>
            <a:ext cx="5102352" cy="0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611880" y="2944368"/>
            <a:ext cx="0" cy="246888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714232" y="2944368"/>
            <a:ext cx="0" cy="246888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399032" y="3182112"/>
            <a:ext cx="4407408" cy="1280160"/>
          </a:xfrm>
          <a:prstGeom prst="roundRect">
            <a:avLst>
              <a:gd name="adj" fmla="val 8571"/>
            </a:avLst>
          </a:prstGeom>
          <a:solidFill>
            <a:srgbClr val="15274E"/>
          </a:solidFill>
          <a:ln w="11430">
            <a:solidFill>
              <a:srgbClr val="385A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64208" y="3355848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Apache + PHP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728216" y="387705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세션 · 초대 코드 · 보드 API · 이미지 업로드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10528" y="3182112"/>
            <a:ext cx="4379976" cy="1280160"/>
          </a:xfrm>
          <a:prstGeom prst="roundRect">
            <a:avLst>
              <a:gd name="adj" fmla="val 8571"/>
            </a:avLst>
          </a:prstGeom>
          <a:solidFill>
            <a:srgbClr val="1B224E"/>
          </a:solidFill>
          <a:ln w="11430">
            <a:solidFill>
              <a:srgbClr val="6950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3355848"/>
            <a:ext cx="3685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Node.js + Socket.IO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6848856" y="3877056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커서 · 미리보기 · 객체 잠금 · 확정 저장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23160" y="2907792"/>
            <a:ext cx="1993392" cy="201168"/>
          </a:xfrm>
          <a:prstGeom prst="roundRect">
            <a:avLst>
              <a:gd name="adj" fmla="val 54545"/>
            </a:avLst>
          </a:prstGeom>
          <a:solidFill>
            <a:srgbClr val="102957"/>
          </a:solidFill>
          <a:ln w="11430">
            <a:solidFill>
              <a:srgbClr val="2E5FB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29077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HTTP / PHP API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8037576" y="2907792"/>
            <a:ext cx="1481328" cy="201168"/>
          </a:xfrm>
          <a:prstGeom prst="roundRect">
            <a:avLst>
              <a:gd name="adj" fmla="val 54545"/>
            </a:avLst>
          </a:prstGeom>
          <a:solidFill>
            <a:srgbClr val="2C2159"/>
          </a:solidFill>
          <a:ln w="11430">
            <a:solidFill>
              <a:srgbClr val="6751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10728" y="290779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WebSocket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3602736" y="4462272"/>
            <a:ext cx="0" cy="256032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8705088" y="4462272"/>
            <a:ext cx="0" cy="256032"/>
          </a:xfrm>
          <a:prstGeom prst="line">
            <a:avLst/>
          </a:prstGeom>
          <a:noFill/>
          <a:ln w="22860">
            <a:solidFill>
              <a:srgbClr val="9472D6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3602736" y="4718304"/>
            <a:ext cx="5102352" cy="0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6190488" y="4718304"/>
            <a:ext cx="0" cy="246888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4215384" y="4956048"/>
            <a:ext cx="3931920" cy="850392"/>
          </a:xfrm>
          <a:prstGeom prst="roundRect">
            <a:avLst>
              <a:gd name="adj" fmla="val 12903"/>
            </a:avLst>
          </a:prstGeom>
          <a:solidFill>
            <a:srgbClr val="12304E"/>
          </a:solidFill>
          <a:ln w="11430">
            <a:solidFill>
              <a:srgbClr val="438A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2856" y="506577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MySQL / MariaDB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4581144" y="548640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· 보드 · 객체 · 업무 · 단기 티켓</a:t>
            </a:r>
            <a:endParaRPr lang="en-US" sz="1060" dirty="0"/>
          </a:p>
        </p:txBody>
      </p:sp>
      <p:sp>
        <p:nvSpPr>
          <p:cNvPr id="53" name="Shape 51"/>
          <p:cNvSpPr/>
          <p:nvPr/>
        </p:nvSpPr>
        <p:spPr>
          <a:xfrm>
            <a:off x="8750808" y="5010912"/>
            <a:ext cx="2670048" cy="749808"/>
          </a:xfrm>
          <a:prstGeom prst="roundRect">
            <a:avLst>
              <a:gd name="adj" fmla="val 14634"/>
            </a:avLst>
          </a:prstGeom>
          <a:solidFill>
            <a:srgbClr val="171F47"/>
          </a:solidFill>
          <a:ln w="11430">
            <a:solidFill>
              <a:srgbClr val="4962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34272" y="5129784"/>
            <a:ext cx="2130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File Storage</a:t>
            </a:r>
            <a:endParaRPr lang="en-US" sz="1520" dirty="0"/>
          </a:p>
        </p:txBody>
      </p:sp>
      <p:sp>
        <p:nvSpPr>
          <p:cNvPr id="55" name="Text 53"/>
          <p:cNvSpPr/>
          <p:nvPr/>
        </p:nvSpPr>
        <p:spPr>
          <a:xfrm>
            <a:off x="9061704" y="54864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업로드 이미지 (웹 루트 밖)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8119872" y="5449824"/>
            <a:ext cx="630936" cy="0"/>
          </a:xfrm>
          <a:prstGeom prst="line">
            <a:avLst/>
          </a:prstGeom>
          <a:noFill/>
          <a:ln w="21590">
            <a:solidFill>
              <a:srgbClr val="4775B3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/>
          <p:nvPr/>
        </p:nvSpPr>
        <p:spPr>
          <a:xfrm>
            <a:off x="832104" y="604418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PHP는 입장·권한·티켓 발급 / Node.js는 실시간 처리 / DB는 최종 상태 저장</a:t>
            </a:r>
            <a:endParaRPr lang="en-US" sz="1150" dirty="0"/>
          </a:p>
        </p:txBody>
      </p:sp>
      <p:sp>
        <p:nvSpPr>
          <p:cNvPr id="300" name="Pill 300"/>
          <p:cNvSpPr/>
          <p:nvPr/>
        </p:nvSpPr>
        <p:spPr>
          <a:xfrm>
            <a:off x="5029200" y="4197096"/>
            <a:ext cx="2258568" cy="219456"/>
          </a:xfrm>
          <a:prstGeom prst="roundRect">
            <a:avLst>
              <a:gd name="adj" fmla="val 50000"/>
            </a:avLst>
          </a:prstGeom>
          <a:solidFill>
            <a:srgbClr val="10344B"/>
          </a:solidFill>
          <a:ln w="11430">
            <a:solidFill>
              <a:srgbClr val="247982"/>
            </a:solidFill>
            <a:prstDash val="solid"/>
          </a:ln>
        </p:spPr>
      </p:sp>
      <p:sp>
        <p:nvSpPr>
          <p:cNvPr id="301" name="Text 301"/>
          <p:cNvSpPr txBox="1"/>
          <p:nvPr/>
        </p:nvSpPr>
        <p:spPr>
          <a:xfrm>
            <a:off x="5102352" y="4197096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발급 → 1회용 티켓(60초) → 확인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 구성 및 역할 분담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총 4명 · 담당 영역을 나누되 통합 규격은 함께 결정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84632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346D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15365D"/>
          </a:solidFill>
          <a:ln w="11430">
            <a:solidFill>
              <a:srgbClr val="3366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 · 본인 (확정)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658368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49224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· 통합 · QA</a:t>
            </a:r>
            <a:endParaRPr lang="en-US" sz="1640" dirty="0"/>
          </a:p>
        </p:txBody>
      </p:sp>
      <p:sp>
        <p:nvSpPr>
          <p:cNvPr id="34" name="Shape 32"/>
          <p:cNvSpPr/>
          <p:nvPr/>
        </p:nvSpPr>
        <p:spPr>
          <a:xfrm>
            <a:off x="640080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58368" y="4370832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 명세·이벤트 규격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58368" y="480060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Git·PR 통합·일정 관리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58368" y="5230368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수용 테스트·최종 발표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3401568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725B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2B255F"/>
          </a:solidFill>
          <a:ln w="11430">
            <a:solidFill>
              <a:srgbClr val="7956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 · 팀원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3575304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3566160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프론트엔드</a:t>
            </a:r>
            <a:endParaRPr lang="en-US" sz="1640" dirty="0"/>
          </a:p>
        </p:txBody>
      </p:sp>
      <p:sp>
        <p:nvSpPr>
          <p:cNvPr id="46" name="Shape 44"/>
          <p:cNvSpPr/>
          <p:nvPr/>
        </p:nvSpPr>
        <p:spPr>
          <a:xfrm>
            <a:off x="3557016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3575304" y="4370832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 화면·툴바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3575304" y="4800600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펜·도형·메모·선택 조작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3575304" y="5230368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이미지·영상 표시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6309360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2E82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73952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2B255F"/>
          </a:solidFill>
          <a:ln w="11430">
            <a:solidFill>
              <a:srgbClr val="7956B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7104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 · 팀원</a:t>
            </a:r>
            <a:endParaRPr lang="en-US" sz="1010" dirty="0"/>
          </a:p>
        </p:txBody>
      </p:sp>
      <p:sp>
        <p:nvSpPr>
          <p:cNvPr id="56" name="Text 54"/>
          <p:cNvSpPr/>
          <p:nvPr/>
        </p:nvSpPr>
        <p:spPr>
          <a:xfrm>
            <a:off x="6483096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2700" dirty="0"/>
          </a:p>
        </p:txBody>
      </p:sp>
      <p:sp>
        <p:nvSpPr>
          <p:cNvPr id="57" name="Text 55"/>
          <p:cNvSpPr/>
          <p:nvPr/>
        </p:nvSpPr>
        <p:spPr>
          <a:xfrm>
            <a:off x="6473952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서버</a:t>
            </a:r>
            <a:endParaRPr lang="en-US" sz="1640" dirty="0"/>
          </a:p>
        </p:txBody>
      </p:sp>
      <p:sp>
        <p:nvSpPr>
          <p:cNvPr id="58" name="Shape 56"/>
          <p:cNvSpPr/>
          <p:nvPr/>
        </p:nvSpPr>
        <p:spPr>
          <a:xfrm>
            <a:off x="6464808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483096" y="4370832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6832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Socket.IO 방·참여자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6483096" y="480060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56832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커서·미리보기·객체 잠금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6483096" y="5230368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 확정 저장 경로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9217152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8659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81744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2B255F"/>
          </a:solidFill>
          <a:ln w="11430">
            <a:solidFill>
              <a:srgbClr val="7956B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54896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 · 팀원</a:t>
            </a:r>
            <a:endParaRPr lang="en-US" sz="1010" dirty="0"/>
          </a:p>
        </p:txBody>
      </p:sp>
      <p:sp>
        <p:nvSpPr>
          <p:cNvPr id="68" name="Text 66"/>
          <p:cNvSpPr/>
          <p:nvPr/>
        </p:nvSpPr>
        <p:spPr>
          <a:xfrm>
            <a:off x="9390888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2700" dirty="0"/>
          </a:p>
        </p:txBody>
      </p:sp>
      <p:sp>
        <p:nvSpPr>
          <p:cNvPr id="69" name="Text 67"/>
          <p:cNvSpPr/>
          <p:nvPr/>
        </p:nvSpPr>
        <p:spPr>
          <a:xfrm>
            <a:off x="9381744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PHP · DB</a:t>
            </a:r>
            <a:endParaRPr lang="en-US" sz="1640" dirty="0"/>
          </a:p>
        </p:txBody>
      </p:sp>
      <p:sp>
        <p:nvSpPr>
          <p:cNvPr id="70" name="Shape 68"/>
          <p:cNvSpPr/>
          <p:nvPr/>
        </p:nvSpPr>
        <p:spPr>
          <a:xfrm>
            <a:off x="9372600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9390888" y="4370832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64624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게스트·초대 코드 API</a:t>
            </a:r>
            <a:endParaRPr lang="en-US" sz="1080" dirty="0"/>
          </a:p>
        </p:txBody>
      </p:sp>
      <p:sp>
        <p:nvSpPr>
          <p:cNvPr id="73" name="Shape 71"/>
          <p:cNvSpPr/>
          <p:nvPr/>
        </p:nvSpPr>
        <p:spPr>
          <a:xfrm>
            <a:off x="9390888" y="4800600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64624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구조·권한 검사</a:t>
            </a:r>
            <a:endParaRPr lang="en-US" sz="1080" dirty="0"/>
          </a:p>
        </p:txBody>
      </p:sp>
      <p:sp>
        <p:nvSpPr>
          <p:cNvPr id="75" name="Shape 73"/>
          <p:cNvSpPr/>
          <p:nvPr/>
        </p:nvSpPr>
        <p:spPr>
          <a:xfrm>
            <a:off x="9390888" y="5230368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64624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업로드·검증</a:t>
            </a:r>
            <a:endParaRPr lang="en-US" sz="1080" dirty="0"/>
          </a:p>
        </p:txBody>
      </p:sp>
      <p:sp>
        <p:nvSpPr>
          <p:cNvPr id="77" name="Shape 75"/>
          <p:cNvSpPr/>
          <p:nvPr/>
        </p:nvSpPr>
        <p:spPr>
          <a:xfrm>
            <a:off x="603504" y="5888736"/>
            <a:ext cx="10917936" cy="365760"/>
          </a:xfrm>
          <a:prstGeom prst="roundRect">
            <a:avLst>
              <a:gd name="adj" fmla="val 30000"/>
            </a:avLst>
          </a:prstGeom>
          <a:solidFill>
            <a:srgbClr val="102248"/>
          </a:solidFill>
          <a:ln w="11430">
            <a:solidFill>
              <a:srgbClr val="35589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9536" y="597103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협업 방식</a:t>
            </a:r>
            <a:endParaRPr lang="en-US" sz="1140" dirty="0"/>
          </a:p>
        </p:txBody>
      </p:sp>
      <p:sp>
        <p:nvSpPr>
          <p:cNvPr id="79" name="Text 77"/>
          <p:cNvSpPr/>
          <p:nvPr/>
        </p:nvSpPr>
        <p:spPr>
          <a:xfrm>
            <a:off x="2048256" y="5971032"/>
            <a:ext cx="9189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 JSON·API·이벤트명 공유   ·   하루 한 번 공동 실행   ·   매주 통합 테스트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B — 프론트엔드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화이트보드의 모든 조작과 사용자 화면을 만드는 역할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21792" y="2075688"/>
            <a:ext cx="4873752" cy="3803904"/>
          </a:xfrm>
          <a:prstGeom prst="roundRect">
            <a:avLst>
              <a:gd name="adj" fmla="val 2885"/>
            </a:avLst>
          </a:prstGeom>
          <a:solidFill>
            <a:srgbClr val="121F43"/>
          </a:solidFill>
          <a:ln w="11430">
            <a:solidFill>
              <a:srgbClr val="385C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234086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담당 업무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3544" y="2761488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" y="2807208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362456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 레이아웃·툴바·패널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923544" y="3300984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" y="334670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362456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펜·도형·메모 그리기와 이동·크기 조절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923544" y="3840480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" y="3886200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362456" y="3831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다중 선택·연결선·실행 취소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923544" y="4379976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" y="4425696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1362456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이미지·영상·업무 블럭 표시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914400" y="5202936"/>
            <a:ext cx="4279392" cy="0"/>
          </a:xfrm>
          <a:prstGeom prst="line">
            <a:avLst/>
          </a:prstGeom>
          <a:noFill/>
          <a:ln w="12700">
            <a:solidFill>
              <a:srgbClr val="3E5991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905256" y="5385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 기술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956816" y="53675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HTML / CSS / JavaScript / Canvas API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92140" y="2144268"/>
            <a:ext cx="5879592" cy="3364992"/>
          </a:xfrm>
          <a:prstGeom prst="roundRect">
            <a:avLst>
              <a:gd name="adj" fmla="val 3804"/>
            </a:avLst>
          </a:prstGeom>
          <a:solidFill>
            <a:srgbClr val="111D44"/>
          </a:solidFill>
          <a:ln w="11430">
            <a:solidFill>
              <a:srgbClr val="3B64B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88152" y="5577840"/>
            <a:ext cx="5696712" cy="603504"/>
          </a:xfrm>
          <a:prstGeom prst="roundRect">
            <a:avLst>
              <a:gd name="adj" fmla="val 18182"/>
            </a:avLst>
          </a:prstGeom>
          <a:solidFill>
            <a:srgbClr val="112447"/>
          </a:solidFill>
          <a:ln w="11430">
            <a:solidFill>
              <a:srgbClr val="335A9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98464" y="56784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산출물</a:t>
            </a:r>
            <a:endParaRPr lang="en-US" sz="1140" dirty="0"/>
          </a:p>
        </p:txBody>
      </p:sp>
      <p:sp>
        <p:nvSpPr>
          <p:cNvPr id="50" name="Text 47"/>
          <p:cNvSpPr/>
          <p:nvPr/>
        </p:nvSpPr>
        <p:spPr>
          <a:xfrm>
            <a:off x="7187184" y="5650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브라우저에서 편집할 수 있는 보드 화면</a:t>
            </a:r>
            <a:endParaRPr lang="en-US" sz="1180" dirty="0"/>
          </a:p>
        </p:txBody>
      </p:sp>
      <p:sp>
        <p:nvSpPr>
          <p:cNvPr id="51" name="Text 48"/>
          <p:cNvSpPr/>
          <p:nvPr/>
        </p:nvSpPr>
        <p:spPr>
          <a:xfrm>
            <a:off x="749808" y="609904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WBS W03·W04·W09~W11   ·   인계: Socket.IO 편집 이벤트 / PHP 이미지·보드 API</a:t>
            </a:r>
            <a:endParaRPr lang="en-US" sz="1040" dirty="0"/>
          </a:p>
        </p:txBody>
      </p:sp>
      <p:pic>
        <p:nvPicPr>
          <p:cNvPr id="300" name="Picture 300" descr="TaskCanvas 보드 화면: 메모를 더블클릭해 글을 고치는 중인 모습"/>
          <p:cNvPicPr>
            <a:picLocks noChangeAspect="1"/>
          </p:cNvPicPr>
          <p:nvPr/>
        </p:nvPicPr>
        <p:blipFill>
          <a:blip r:embed="rId100"/>
          <a:srcRect b="10200"/>
          <a:stretch>
            <a:fillRect/>
          </a:stretch>
        </p:blipFill>
        <p:spPr>
          <a:xfrm>
            <a:off x="5742432" y="2203704"/>
            <a:ext cx="5779008" cy="3243468"/>
          </a:xfrm>
          <a:prstGeom prst="roundRect">
            <a:avLst>
              <a:gd name="adj" fmla="val 2255"/>
            </a:avLst>
          </a:prstGeom>
        </p:spPr>
      </p:pic>
      <p:sp>
        <p:nvSpPr>
          <p:cNvPr id="301" name="Pill 301"/>
          <p:cNvSpPr/>
          <p:nvPr/>
        </p:nvSpPr>
        <p:spPr>
          <a:xfrm>
            <a:off x="5925312" y="2002536"/>
            <a:ext cx="2331720" cy="228600"/>
          </a:xfrm>
          <a:prstGeom prst="roundRect">
            <a:avLst>
              <a:gd name="adj" fmla="val 48000"/>
            </a:avLst>
          </a:prstGeom>
          <a:solidFill>
            <a:srgbClr val="103866"/>
          </a:solidFill>
          <a:ln w="11430">
            <a:solidFill>
              <a:srgbClr val="377CBC"/>
            </a:solidFill>
            <a:prstDash val="solid"/>
          </a:ln>
        </p:spPr>
      </p:sp>
      <p:sp>
        <p:nvSpPr>
          <p:cNvPr id="302" name="Text 302"/>
          <p:cNvSpPr txBox="1"/>
          <p:nvPr/>
        </p:nvSpPr>
        <p:spPr>
          <a:xfrm>
            <a:off x="5998464" y="2002536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구현 화면 · 메모 편집 중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C — 실시간 서버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4대 PC에서 변경을 즉시 공유하고 충돌을 막는 역할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21792" y="2075688"/>
            <a:ext cx="4873752" cy="3803904"/>
          </a:xfrm>
          <a:prstGeom prst="roundRect">
            <a:avLst>
              <a:gd name="adj" fmla="val 2885"/>
            </a:avLst>
          </a:prstGeom>
          <a:solidFill>
            <a:srgbClr val="121F43"/>
          </a:solidFill>
          <a:ln w="11430">
            <a:solidFill>
              <a:srgbClr val="385C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234086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담당 업무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3544" y="2761488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" y="2807208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362456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Socket.IO 보드 방·참여자 관리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923544" y="3300984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" y="334670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362456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커서·펜 획 미리보기 전달 (저장 안 함)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923544" y="3840480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" y="3886200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362456" y="3831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 잠금·해제·30초 만료 처리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923544" y="4379976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" y="4425696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1362456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변경 확정 저장·버전 충돌 거부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914400" y="5202936"/>
            <a:ext cx="4279392" cy="0"/>
          </a:xfrm>
          <a:prstGeom prst="line">
            <a:avLst/>
          </a:prstGeom>
          <a:noFill/>
          <a:ln w="12700">
            <a:solidFill>
              <a:srgbClr val="3E5991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905256" y="5385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 기술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956816" y="53675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Node.js / Socket.IO / mysql2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92140" y="2144268"/>
            <a:ext cx="5879592" cy="3364992"/>
          </a:xfrm>
          <a:prstGeom prst="roundRect">
            <a:avLst>
              <a:gd name="adj" fmla="val 3804"/>
            </a:avLst>
          </a:prstGeom>
          <a:solidFill>
            <a:srgbClr val="111D44"/>
          </a:solidFill>
          <a:ln w="11430">
            <a:solidFill>
              <a:srgbClr val="3B64B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88152" y="5577840"/>
            <a:ext cx="5696712" cy="603504"/>
          </a:xfrm>
          <a:prstGeom prst="roundRect">
            <a:avLst>
              <a:gd name="adj" fmla="val 18182"/>
            </a:avLst>
          </a:prstGeom>
          <a:solidFill>
            <a:srgbClr val="112447"/>
          </a:solidFill>
          <a:ln w="11430">
            <a:solidFill>
              <a:srgbClr val="335A9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98464" y="56784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산출물</a:t>
            </a:r>
            <a:endParaRPr lang="en-US" sz="1140" dirty="0"/>
          </a:p>
        </p:txBody>
      </p:sp>
      <p:sp>
        <p:nvSpPr>
          <p:cNvPr id="50" name="Text 47"/>
          <p:cNvSpPr/>
          <p:nvPr/>
        </p:nvSpPr>
        <p:spPr>
          <a:xfrm>
            <a:off x="7187184" y="5650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동시 편집·잠금·저장 동작</a:t>
            </a:r>
            <a:endParaRPr lang="en-US" sz="1180" dirty="0"/>
          </a:p>
        </p:txBody>
      </p:sp>
      <p:sp>
        <p:nvSpPr>
          <p:cNvPr id="51" name="Text 48"/>
          <p:cNvSpPr/>
          <p:nvPr/>
        </p:nvSpPr>
        <p:spPr>
          <a:xfrm>
            <a:off x="749808" y="609904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WBS W05·W12~W14   ·   인계: 프론트 이벤트 규격 / PHP 단기 티켓 / DB 저장 형식</a:t>
            </a:r>
            <a:endParaRPr lang="en-US" sz="1040" dirty="0"/>
          </a:p>
        </p:txBody>
      </p:sp>
      <p:pic>
        <p:nvPicPr>
          <p:cNvPr id="300" name="Picture 300" descr="TaskCanvas 보드 화면: 다른 참여자가 옮기는 메모에 빨간 점선 테두리와 편집 중 표시가 붙은 모습"/>
          <p:cNvPicPr>
            <a:picLocks noChangeAspect="1"/>
          </p:cNvPicPr>
          <p:nvPr/>
        </p:nvPicPr>
        <p:blipFill>
          <a:blip r:embed="rId100"/>
          <a:srcRect b="10200"/>
          <a:stretch>
            <a:fillRect/>
          </a:stretch>
        </p:blipFill>
        <p:spPr>
          <a:xfrm>
            <a:off x="5742432" y="2203704"/>
            <a:ext cx="5779008" cy="3243468"/>
          </a:xfrm>
          <a:prstGeom prst="roundRect">
            <a:avLst>
              <a:gd name="adj" fmla="val 2255"/>
            </a:avLst>
          </a:prstGeom>
        </p:spPr>
      </p:pic>
      <p:sp>
        <p:nvSpPr>
          <p:cNvPr id="301" name="Pill 301"/>
          <p:cNvSpPr/>
          <p:nvPr/>
        </p:nvSpPr>
        <p:spPr>
          <a:xfrm>
            <a:off x="5925312" y="2002536"/>
            <a:ext cx="2103120" cy="228600"/>
          </a:xfrm>
          <a:prstGeom prst="roundRect">
            <a:avLst>
              <a:gd name="adj" fmla="val 48000"/>
            </a:avLst>
          </a:prstGeom>
          <a:solidFill>
            <a:srgbClr val="103866"/>
          </a:solidFill>
          <a:ln w="11430">
            <a:solidFill>
              <a:srgbClr val="377CBC"/>
            </a:solidFill>
            <a:prstDash val="solid"/>
          </a:ln>
        </p:spPr>
      </p:sp>
      <p:sp>
        <p:nvSpPr>
          <p:cNvPr id="302" name="Text 302"/>
          <p:cNvSpPr txBox="1"/>
          <p:nvPr/>
        </p:nvSpPr>
        <p:spPr>
          <a:xfrm>
            <a:off x="5998464" y="200253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구현 화면 · 잠금 표시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D — PHP · DB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입장과 프로젝트·보드 데이터의 보관·권한을 책임지는 역할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21792" y="2075688"/>
            <a:ext cx="4873752" cy="3803904"/>
          </a:xfrm>
          <a:prstGeom prst="roundRect">
            <a:avLst>
              <a:gd name="adj" fmla="val 2885"/>
            </a:avLst>
          </a:prstGeom>
          <a:solidFill>
            <a:srgbClr val="121F43"/>
          </a:solidFill>
          <a:ln w="11430">
            <a:solidFill>
              <a:srgbClr val="385C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234086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담당 업무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3544" y="2761488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" y="2807208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362456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입장·세션·초대 코드 API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923544" y="3300984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" y="334670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362456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프로젝트·보드·스냅샷 조회 API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923544" y="3840480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" y="3886200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362456" y="3831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MySQL 테이블 설계·역할 권한 검사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923544" y="4379976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" y="4425696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1362456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업로드 검증 (형식·10MB)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914400" y="5202936"/>
            <a:ext cx="4279392" cy="0"/>
          </a:xfrm>
          <a:prstGeom prst="line">
            <a:avLst/>
          </a:prstGeom>
          <a:noFill/>
          <a:ln w="12700">
            <a:solidFill>
              <a:srgbClr val="3E5991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905256" y="5385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 기술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956816" y="53675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PHP / Apache(XAMPP) / MySQL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92140" y="2144268"/>
            <a:ext cx="5879592" cy="3364992"/>
          </a:xfrm>
          <a:prstGeom prst="roundRect">
            <a:avLst>
              <a:gd name="adj" fmla="val 3804"/>
            </a:avLst>
          </a:prstGeom>
          <a:solidFill>
            <a:srgbClr val="111D44"/>
          </a:solidFill>
          <a:ln w="11430">
            <a:solidFill>
              <a:srgbClr val="3B64B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88152" y="5577840"/>
            <a:ext cx="5696712" cy="603504"/>
          </a:xfrm>
          <a:prstGeom prst="roundRect">
            <a:avLst>
              <a:gd name="adj" fmla="val 18182"/>
            </a:avLst>
          </a:prstGeom>
          <a:solidFill>
            <a:srgbClr val="112447"/>
          </a:solidFill>
          <a:ln w="11430">
            <a:solidFill>
              <a:srgbClr val="335A9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98464" y="56784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산출물</a:t>
            </a:r>
            <a:endParaRPr lang="en-US" sz="1140" dirty="0"/>
          </a:p>
        </p:txBody>
      </p:sp>
      <p:sp>
        <p:nvSpPr>
          <p:cNvPr id="50" name="Text 47"/>
          <p:cNvSpPr/>
          <p:nvPr/>
        </p:nvSpPr>
        <p:spPr>
          <a:xfrm>
            <a:off x="7187184" y="5650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입장·조회·권한·업로드 기능</a:t>
            </a:r>
            <a:endParaRPr lang="en-US" sz="1180" dirty="0"/>
          </a:p>
        </p:txBody>
      </p:sp>
      <p:sp>
        <p:nvSpPr>
          <p:cNvPr id="51" name="Text 48"/>
          <p:cNvSpPr/>
          <p:nvPr/>
        </p:nvSpPr>
        <p:spPr>
          <a:xfrm>
            <a:off x="749808" y="609904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WBS W07·W08·W14·W15   ·   인계: Node 단기 티켓 확인 / 프론트 데이터 요청 형식</a:t>
            </a:r>
            <a:endParaRPr lang="en-US" sz="1040" dirty="0"/>
          </a:p>
        </p:txBody>
      </p:sp>
      <p:pic>
        <p:nvPicPr>
          <p:cNvPr id="300" name="Picture 300" descr="TaskCanvas 작업실 화면: 보드 목록, 참여자와 역할, 공유 업무 목록"/>
          <p:cNvPicPr>
            <a:picLocks noChangeAspect="1"/>
          </p:cNvPicPr>
          <p:nvPr/>
        </p:nvPicPr>
        <p:blipFill>
          <a:blip r:embed="rId100"/>
          <a:srcRect b="10600"/>
          <a:stretch>
            <a:fillRect/>
          </a:stretch>
        </p:blipFill>
        <p:spPr>
          <a:xfrm>
            <a:off x="5742432" y="2203704"/>
            <a:ext cx="5779008" cy="3229021"/>
          </a:xfrm>
          <a:prstGeom prst="roundRect">
            <a:avLst>
              <a:gd name="adj" fmla="val 2265"/>
            </a:avLst>
          </a:prstGeom>
        </p:spPr>
      </p:pic>
      <p:sp>
        <p:nvSpPr>
          <p:cNvPr id="301" name="Pill 301"/>
          <p:cNvSpPr/>
          <p:nvPr/>
        </p:nvSpPr>
        <p:spPr>
          <a:xfrm>
            <a:off x="5925312" y="2002536"/>
            <a:ext cx="2423160" cy="228600"/>
          </a:xfrm>
          <a:prstGeom prst="roundRect">
            <a:avLst>
              <a:gd name="adj" fmla="val 48000"/>
            </a:avLst>
          </a:prstGeom>
          <a:solidFill>
            <a:srgbClr val="103866"/>
          </a:solidFill>
          <a:ln w="11430">
            <a:solidFill>
              <a:srgbClr val="377CBC"/>
            </a:solidFill>
            <a:prstDash val="solid"/>
          </a:ln>
        </p:spPr>
      </p:sp>
      <p:sp>
        <p:nvSpPr>
          <p:cNvPr id="302" name="Text 302"/>
          <p:cNvSpPr txBox="1"/>
          <p:nvPr/>
        </p:nvSpPr>
        <p:spPr>
          <a:xfrm>
            <a:off x="5998464" y="2002536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구현 화면 · 입장 후 작업실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3주 개발 계획과 시연 목표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기능을 먼저 완성하고, 마지막 주에는 안정화를 우선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94360" y="2148840"/>
            <a:ext cx="3474720" cy="2935224"/>
          </a:xfrm>
          <a:prstGeom prst="roundRect">
            <a:avLst>
              <a:gd name="adj" fmla="val 3738"/>
            </a:avLst>
          </a:prstGeom>
          <a:solidFill>
            <a:srgbClr val="142449"/>
          </a:solidFill>
          <a:ln w="11430">
            <a:solidFill>
              <a:srgbClr val="2C73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99032" y="2048256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103866"/>
          </a:solidFill>
          <a:ln w="11430">
            <a:solidFill>
              <a:srgbClr val="377C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72184" y="20482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1주 차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1248" y="266090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통신 기반</a:t>
            </a:r>
            <a:endParaRPr lang="en-US" sz="1920" dirty="0"/>
          </a:p>
        </p:txBody>
      </p:sp>
      <p:sp>
        <p:nvSpPr>
          <p:cNvPr id="33" name="Shape 31"/>
          <p:cNvSpPr/>
          <p:nvPr/>
        </p:nvSpPr>
        <p:spPr>
          <a:xfrm>
            <a:off x="859536" y="3419856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PC·LAN·포트 확인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859536" y="384048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3694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입장·보드 조회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859536" y="4261104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 실시간 전달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859536" y="4663440"/>
            <a:ext cx="2916936" cy="0"/>
          </a:xfrm>
          <a:prstGeom prst="line">
            <a:avLst/>
          </a:prstGeom>
          <a:noFill/>
          <a:ln w="10160">
            <a:solidFill>
              <a:srgbClr val="41608E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868680" y="476402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기준  PC 2대에서 펜 공유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4325112" y="2148840"/>
            <a:ext cx="3474720" cy="2935224"/>
          </a:xfrm>
          <a:prstGeom prst="roundRect">
            <a:avLst>
              <a:gd name="adj" fmla="val 3738"/>
            </a:avLst>
          </a:prstGeom>
          <a:solidFill>
            <a:srgbClr val="142449"/>
          </a:solidFill>
          <a:ln w="11430">
            <a:solidFill>
              <a:srgbClr val="7253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9784" y="2048256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35266B"/>
          </a:solidFill>
          <a:ln w="11430">
            <a:solidFill>
              <a:srgbClr val="7960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02936" y="20482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2주 차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572000" y="266090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공동 편집</a:t>
            </a:r>
            <a:endParaRPr lang="en-US" sz="1920" dirty="0"/>
          </a:p>
        </p:txBody>
      </p:sp>
      <p:sp>
        <p:nvSpPr>
          <p:cNvPr id="45" name="Shape 43"/>
          <p:cNvSpPr/>
          <p:nvPr/>
        </p:nvSpPr>
        <p:spPr>
          <a:xfrm>
            <a:off x="4590288" y="3419856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커서·객체 잠금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4590288" y="3840480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3694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업로드·영상 임베드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4590288" y="4261104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64024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저장·재접속 복원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4590288" y="4663440"/>
            <a:ext cx="2916936" cy="0"/>
          </a:xfrm>
          <a:prstGeom prst="line">
            <a:avLst/>
          </a:prstGeom>
          <a:noFill/>
          <a:ln w="10160">
            <a:solidFill>
              <a:srgbClr val="41608E"/>
            </a:solidFill>
            <a:prstDash val="solid"/>
            <a:headEnd type="non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4599432" y="476402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기준  4인 동시 편집·복원</a:t>
            </a:r>
            <a:endParaRPr lang="en-US" sz="1060" dirty="0"/>
          </a:p>
        </p:txBody>
      </p:sp>
      <p:sp>
        <p:nvSpPr>
          <p:cNvPr id="53" name="Shape 51"/>
          <p:cNvSpPr/>
          <p:nvPr/>
        </p:nvSpPr>
        <p:spPr>
          <a:xfrm>
            <a:off x="8065008" y="2148840"/>
            <a:ext cx="3474720" cy="2935224"/>
          </a:xfrm>
          <a:prstGeom prst="roundRect">
            <a:avLst>
              <a:gd name="adj" fmla="val 3738"/>
            </a:avLst>
          </a:prstGeom>
          <a:solidFill>
            <a:srgbClr val="142449"/>
          </a:solidFill>
          <a:ln w="11430">
            <a:solidFill>
              <a:srgbClr val="81539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69680" y="2048256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43265D"/>
          </a:solidFill>
          <a:ln w="11430">
            <a:solidFill>
              <a:srgbClr val="9B61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42832" y="20482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3주 차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311896" y="266090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안정화 + P1</a:t>
            </a:r>
            <a:endParaRPr lang="en-US" sz="1920" dirty="0"/>
          </a:p>
        </p:txBody>
      </p:sp>
      <p:sp>
        <p:nvSpPr>
          <p:cNvPr id="57" name="Shape 55"/>
          <p:cNvSpPr/>
          <p:nvPr/>
        </p:nvSpPr>
        <p:spPr>
          <a:xfrm>
            <a:off x="8330184" y="3419856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03920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공유 업무·연결선 (P1, 조건부)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330184" y="3840480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03920" y="3694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수용 테스트 재실행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8330184" y="4261104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 4대 최종 시연</a:t>
            </a:r>
            <a:endParaRPr lang="en-US" sz="1160" dirty="0"/>
          </a:p>
        </p:txBody>
      </p:sp>
      <p:sp>
        <p:nvSpPr>
          <p:cNvPr id="63" name="Shape 61"/>
          <p:cNvSpPr/>
          <p:nvPr/>
        </p:nvSpPr>
        <p:spPr>
          <a:xfrm>
            <a:off x="8330184" y="4663440"/>
            <a:ext cx="2916936" cy="0"/>
          </a:xfrm>
          <a:prstGeom prst="line">
            <a:avLst/>
          </a:prstGeom>
          <a:noFill/>
          <a:ln w="10160">
            <a:solidFill>
              <a:srgbClr val="41608E"/>
            </a:solidFill>
            <a:prstDash val="solid"/>
            <a:headEnd type="none"/>
            <a:tailEnd type="none"/>
          </a:ln>
        </p:spPr>
      </p:sp>
      <p:sp>
        <p:nvSpPr>
          <p:cNvPr id="64" name="Text 62"/>
          <p:cNvSpPr/>
          <p:nvPr/>
        </p:nvSpPr>
        <p:spPr>
          <a:xfrm>
            <a:off x="8339328" y="476402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기준  시연 흐름 중단 없음</a:t>
            </a:r>
            <a:endParaRPr lang="en-US" sz="1060" dirty="0"/>
          </a:p>
        </p:txBody>
      </p:sp>
      <p:sp>
        <p:nvSpPr>
          <p:cNvPr id="65" name="Shape 63"/>
          <p:cNvSpPr/>
          <p:nvPr/>
        </p:nvSpPr>
        <p:spPr>
          <a:xfrm>
            <a:off x="640080" y="5330952"/>
            <a:ext cx="7351776" cy="868680"/>
          </a:xfrm>
          <a:prstGeom prst="roundRect">
            <a:avLst>
              <a:gd name="adj" fmla="val 12632"/>
            </a:avLst>
          </a:prstGeom>
          <a:solidFill>
            <a:srgbClr val="11284B"/>
          </a:solidFill>
          <a:ln w="11430">
            <a:solidFill>
              <a:srgbClr val="3361A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6112" y="549554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시연 목표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2816352" y="5541264"/>
            <a:ext cx="4846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4명 동시 접속  ·  실시간 편집  ·  이미지·영상  ·  저장 복원</a:t>
            </a:r>
            <a:endParaRPr lang="en-US" sz="1220" dirty="0"/>
          </a:p>
        </p:txBody>
      </p:sp>
      <p:sp>
        <p:nvSpPr>
          <p:cNvPr id="68" name="Shape 66"/>
          <p:cNvSpPr/>
          <p:nvPr/>
        </p:nvSpPr>
        <p:spPr>
          <a:xfrm>
            <a:off x="8138160" y="5330952"/>
            <a:ext cx="3392424" cy="868680"/>
          </a:xfrm>
          <a:prstGeom prst="roundRect">
            <a:avLst>
              <a:gd name="adj" fmla="val 12632"/>
            </a:avLst>
          </a:prstGeom>
          <a:solidFill>
            <a:srgbClr val="1D244A"/>
          </a:solidFill>
          <a:ln w="11430">
            <a:solidFill>
              <a:srgbClr val="66539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85048" y="54589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 중단 기준</a:t>
            </a:r>
            <a:endParaRPr lang="en-US" sz="1240" dirty="0"/>
          </a:p>
        </p:txBody>
      </p:sp>
      <p:sp>
        <p:nvSpPr>
          <p:cNvPr id="70" name="Text 68"/>
          <p:cNvSpPr/>
          <p:nvPr/>
        </p:nvSpPr>
        <p:spPr>
          <a:xfrm>
            <a:off x="8385048" y="5797296"/>
            <a:ext cx="2807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2주 종료 시 P0 미완성이면 P1 연기</a:t>
            </a:r>
            <a:endParaRPr lang="en-US" sz="1080" dirty="0"/>
          </a:p>
        </p:txBody>
      </p:sp>
      <p:sp>
        <p:nvSpPr>
          <p:cNvPr id="71" name="Text 69"/>
          <p:cNvSpPr/>
          <p:nvPr/>
        </p:nvSpPr>
        <p:spPr>
          <a:xfrm>
            <a:off x="941832" y="6318504"/>
            <a:ext cx="10314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핵심은 기능 수보다 안정적인 실시간 협업 경험입니다.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수용 테스트 결과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 조건 32개 — 개발 PC에서 확인한 결과와 아직 남은 학교 PC 검증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300" name="Box 300"/>
          <p:cNvSpPr/>
          <p:nvPr/>
        </p:nvSpPr>
        <p:spPr>
          <a:xfrm>
            <a:off x="594360" y="2103120"/>
            <a:ext cx="1572768" cy="1280160"/>
          </a:xfrm>
          <a:prstGeom prst="roundRect">
            <a:avLst>
              <a:gd name="adj" fmla="val 10000"/>
            </a:avLst>
          </a:prstGeom>
          <a:solidFill>
            <a:srgbClr val="142448"/>
          </a:solidFill>
          <a:ln w="11430">
            <a:solidFill>
              <a:srgbClr val="346DAA"/>
            </a:solidFill>
            <a:prstDash val="solid"/>
          </a:ln>
        </p:spPr>
      </p:sp>
      <p:sp>
        <p:nvSpPr>
          <p:cNvPr id="301" name="Text 301"/>
          <p:cNvSpPr txBox="1"/>
          <p:nvPr/>
        </p:nvSpPr>
        <p:spPr>
          <a:xfrm>
            <a:off x="777240" y="224028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</a:t>
            </a:r>
            <a:endParaRPr lang="en-US" sz="2700" dirty="0"/>
          </a:p>
        </p:txBody>
      </p:sp>
      <p:sp>
        <p:nvSpPr>
          <p:cNvPr id="302" name="Text 302"/>
          <p:cNvSpPr txBox="1"/>
          <p:nvPr/>
        </p:nvSpPr>
        <p:spPr>
          <a:xfrm>
            <a:off x="777240" y="28072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검사 통과</a:t>
            </a:r>
            <a:endParaRPr lang="en-US" sz="1120" dirty="0"/>
          </a:p>
        </p:txBody>
      </p:sp>
      <p:sp>
        <p:nvSpPr>
          <p:cNvPr id="303" name="Text 303"/>
          <p:cNvSpPr txBox="1"/>
          <p:nvPr/>
        </p:nvSpPr>
        <p:spPr>
          <a:xfrm>
            <a:off x="777240" y="3044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13 · P1 15</a:t>
            </a:r>
            <a:endParaRPr lang="en-US" sz="930" dirty="0"/>
          </a:p>
        </p:txBody>
      </p:sp>
      <p:sp>
        <p:nvSpPr>
          <p:cNvPr id="304" name="Box 304"/>
          <p:cNvSpPr/>
          <p:nvPr/>
        </p:nvSpPr>
        <p:spPr>
          <a:xfrm>
            <a:off x="2313432" y="2103120"/>
            <a:ext cx="1572768" cy="1280160"/>
          </a:xfrm>
          <a:prstGeom prst="roundRect">
            <a:avLst>
              <a:gd name="adj" fmla="val 10000"/>
            </a:avLst>
          </a:prstGeom>
          <a:solidFill>
            <a:srgbClr val="142448"/>
          </a:solidFill>
          <a:ln w="11430">
            <a:solidFill>
              <a:srgbClr val="725BB4"/>
            </a:solidFill>
            <a:prstDash val="solid"/>
          </a:ln>
        </p:spPr>
      </p:sp>
      <p:sp>
        <p:nvSpPr>
          <p:cNvPr id="305" name="Text 305"/>
          <p:cNvSpPr txBox="1"/>
          <p:nvPr/>
        </p:nvSpPr>
        <p:spPr>
          <a:xfrm>
            <a:off x="2496312" y="224028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2700" dirty="0"/>
          </a:p>
        </p:txBody>
      </p:sp>
      <p:sp>
        <p:nvSpPr>
          <p:cNvPr id="306" name="Text 306"/>
          <p:cNvSpPr txBox="1"/>
          <p:nvPr/>
        </p:nvSpPr>
        <p:spPr>
          <a:xfrm>
            <a:off x="2496312" y="28072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브라우저 확인</a:t>
            </a:r>
            <a:endParaRPr lang="en-US" sz="1120" dirty="0"/>
          </a:p>
        </p:txBody>
      </p:sp>
      <p:sp>
        <p:nvSpPr>
          <p:cNvPr id="307" name="Text 307"/>
          <p:cNvSpPr txBox="1"/>
          <p:nvPr/>
        </p:nvSpPr>
        <p:spPr>
          <a:xfrm>
            <a:off x="2496312" y="3044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AC10·AC24·AC25</a:t>
            </a:r>
            <a:endParaRPr lang="en-US" sz="930" dirty="0"/>
          </a:p>
        </p:txBody>
      </p:sp>
      <p:sp>
        <p:nvSpPr>
          <p:cNvPr id="308" name="Box 308"/>
          <p:cNvSpPr/>
          <p:nvPr/>
        </p:nvSpPr>
        <p:spPr>
          <a:xfrm>
            <a:off x="594360" y="3529584"/>
            <a:ext cx="1572768" cy="1280160"/>
          </a:xfrm>
          <a:prstGeom prst="roundRect">
            <a:avLst>
              <a:gd name="adj" fmla="val 10000"/>
            </a:avLst>
          </a:prstGeom>
          <a:solidFill>
            <a:srgbClr val="142448"/>
          </a:solidFill>
          <a:ln w="11430">
            <a:solidFill>
              <a:srgbClr val="2E82A6"/>
            </a:solidFill>
            <a:prstDash val="solid"/>
          </a:ln>
        </p:spPr>
      </p:sp>
      <p:sp>
        <p:nvSpPr>
          <p:cNvPr id="309" name="Text 309"/>
          <p:cNvSpPr txBox="1"/>
          <p:nvPr/>
        </p:nvSpPr>
        <p:spPr>
          <a:xfrm>
            <a:off x="777240" y="3666744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endParaRPr lang="en-US" sz="2700" dirty="0"/>
          </a:p>
        </p:txBody>
      </p:sp>
      <p:sp>
        <p:nvSpPr>
          <p:cNvPr id="310" name="Text 310"/>
          <p:cNvSpPr txBox="1"/>
          <p:nvPr/>
        </p:nvSpPr>
        <p:spPr>
          <a:xfrm>
            <a:off x="777240" y="42336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실패</a:t>
            </a:r>
            <a:endParaRPr lang="en-US" sz="1120" dirty="0"/>
          </a:p>
        </p:txBody>
      </p:sp>
      <p:sp>
        <p:nvSpPr>
          <p:cNvPr id="311" name="Text 311"/>
          <p:cNvSpPr txBox="1"/>
          <p:nvPr/>
        </p:nvSpPr>
        <p:spPr>
          <a:xfrm>
            <a:off x="777240" y="44714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검사 기준</a:t>
            </a:r>
            <a:endParaRPr lang="en-US" sz="930" dirty="0"/>
          </a:p>
        </p:txBody>
      </p:sp>
      <p:sp>
        <p:nvSpPr>
          <p:cNvPr id="312" name="Box 312"/>
          <p:cNvSpPr/>
          <p:nvPr/>
        </p:nvSpPr>
        <p:spPr>
          <a:xfrm>
            <a:off x="2313432" y="3529584"/>
            <a:ext cx="1572768" cy="1280160"/>
          </a:xfrm>
          <a:prstGeom prst="roundRect">
            <a:avLst>
              <a:gd name="adj" fmla="val 10000"/>
            </a:avLst>
          </a:prstGeom>
          <a:solidFill>
            <a:srgbClr val="142448"/>
          </a:solidFill>
          <a:ln w="11430">
            <a:solidFill>
              <a:srgbClr val="81539B"/>
            </a:solidFill>
            <a:prstDash val="solid"/>
          </a:ln>
        </p:spPr>
      </p:sp>
      <p:sp>
        <p:nvSpPr>
          <p:cNvPr id="313" name="Text 313"/>
          <p:cNvSpPr txBox="1"/>
          <p:nvPr/>
        </p:nvSpPr>
        <p:spPr>
          <a:xfrm>
            <a:off x="2496312" y="3666744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2700" dirty="0"/>
          </a:p>
        </p:txBody>
      </p:sp>
      <p:sp>
        <p:nvSpPr>
          <p:cNvPr id="314" name="Text 314"/>
          <p:cNvSpPr txBox="1"/>
          <p:nvPr/>
        </p:nvSpPr>
        <p:spPr>
          <a:xfrm>
            <a:off x="2496312" y="42336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미실행</a:t>
            </a:r>
            <a:endParaRPr lang="en-US" sz="1120" dirty="0"/>
          </a:p>
        </p:txBody>
      </p:sp>
      <p:sp>
        <p:nvSpPr>
          <p:cNvPr id="315" name="Text 315"/>
          <p:cNvSpPr txBox="1"/>
          <p:nvPr/>
        </p:nvSpPr>
        <p:spPr>
          <a:xfrm>
            <a:off x="2496312" y="44714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AC15 학교 PC 4대</a:t>
            </a:r>
            <a:endParaRPr lang="en-US" sz="930" dirty="0"/>
          </a:p>
        </p:txBody>
      </p:sp>
      <p:sp>
        <p:nvSpPr>
          <p:cNvPr id="316" name="Box 316"/>
          <p:cNvSpPr/>
          <p:nvPr/>
        </p:nvSpPr>
        <p:spPr>
          <a:xfrm>
            <a:off x="594360" y="4956048"/>
            <a:ext cx="3291840" cy="1307592"/>
          </a:xfrm>
          <a:prstGeom prst="roundRect">
            <a:avLst>
              <a:gd name="adj" fmla="val 9790"/>
            </a:avLst>
          </a:prstGeom>
          <a:solidFill>
            <a:srgbClr val="121F43"/>
          </a:solidFill>
          <a:ln w="11430">
            <a:solidFill>
              <a:srgbClr val="385C9E"/>
            </a:solidFill>
            <a:prstDash val="solid"/>
          </a:ln>
        </p:spPr>
      </p:sp>
      <p:sp>
        <p:nvSpPr>
          <p:cNvPr id="317" name="Text 317"/>
          <p:cNvSpPr txBox="1"/>
          <p:nvPr/>
        </p:nvSpPr>
        <p:spPr>
          <a:xfrm>
            <a:off x="804672" y="5093208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 확인</a:t>
            </a:r>
            <a:endParaRPr lang="en-US" sz="1150" dirty="0"/>
          </a:p>
        </p:txBody>
      </p:sp>
      <p:sp>
        <p:nvSpPr>
          <p:cNvPr id="318" name="Text 318"/>
          <p:cNvSpPr txBox="1"/>
          <p:nvPr/>
        </p:nvSpPr>
        <p:spPr>
          <a:xfrm>
            <a:off x="804672" y="538581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보안 점검 2 · 운영 점검 1 통과</a:t>
            </a:r>
            <a:endParaRPr lang="en-US" sz="1050" dirty="0"/>
          </a:p>
        </p:txBody>
      </p:sp>
      <p:sp>
        <p:nvSpPr>
          <p:cNvPr id="319" name="Text 319"/>
          <p:cNvSpPr txBox="1"/>
          <p:nvPr/>
        </p:nvSpPr>
        <p:spPr>
          <a:xfrm>
            <a:off x="804672" y="562356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자동 리허설 14 통과 · 브라우저 4개</a:t>
            </a:r>
            <a:endParaRPr lang="en-US" sz="1050" dirty="0"/>
          </a:p>
        </p:txBody>
      </p:sp>
      <p:sp>
        <p:nvSpPr>
          <p:cNvPr id="320" name="Text 320"/>
          <p:cNvSpPr txBox="1"/>
          <p:nvPr/>
        </p:nvSpPr>
        <p:spPr>
          <a:xfrm>
            <a:off x="804672" y="586130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2026-10-10 · 개발 PC 1대, LAN 구간 제외</a:t>
            </a:r>
            <a:endParaRPr lang="en-US" sz="1020" dirty="0"/>
          </a:p>
        </p:txBody>
      </p:sp>
      <p:sp>
        <p:nvSpPr>
          <p:cNvPr id="321" name="Box 321"/>
          <p:cNvSpPr/>
          <p:nvPr/>
        </p:nvSpPr>
        <p:spPr>
          <a:xfrm>
            <a:off x="4096512" y="2103120"/>
            <a:ext cx="7498080" cy="3310128"/>
          </a:xfrm>
          <a:prstGeom prst="roundRect">
            <a:avLst>
              <a:gd name="adj" fmla="val 3867"/>
            </a:avLst>
          </a:prstGeom>
          <a:solidFill>
            <a:srgbClr val="111D44"/>
          </a:solidFill>
          <a:ln w="11430">
            <a:solidFill>
              <a:srgbClr val="3B64B6"/>
            </a:solidFill>
            <a:prstDash val="solid"/>
          </a:ln>
        </p:spPr>
      </p:sp>
      <p:sp>
        <p:nvSpPr>
          <p:cNvPr id="322" name="Text 322"/>
          <p:cNvSpPr txBox="1"/>
          <p:nvPr/>
        </p:nvSpPr>
        <p:spPr>
          <a:xfrm>
            <a:off x="4352544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시나리오 15개</a:t>
            </a:r>
            <a:endParaRPr lang="en-US" sz="1320" dirty="0"/>
          </a:p>
        </p:txBody>
      </p:sp>
      <p:sp>
        <p:nvSpPr>
          <p:cNvPr id="323" name="Text 323"/>
          <p:cNvSpPr txBox="1"/>
          <p:nvPr/>
        </p:nvSpPr>
        <p:spPr>
          <a:xfrm>
            <a:off x="7863840" y="22585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14개 통과 · 1개 미실행</a:t>
            </a:r>
            <a:endParaRPr lang="en-US" sz="1050" dirty="0"/>
          </a:p>
        </p:txBody>
      </p:sp>
      <p:sp>
        <p:nvSpPr>
          <p:cNvPr id="324" name="Line 324"/>
          <p:cNvSpPr/>
          <p:nvPr/>
        </p:nvSpPr>
        <p:spPr>
          <a:xfrm>
            <a:off x="7845552" y="2688336"/>
            <a:ext cx="0" cy="2578608"/>
          </a:xfrm>
          <a:prstGeom prst="line">
            <a:avLst/>
          </a:prstGeom>
          <a:noFill/>
          <a:ln w="9525">
            <a:solidFill>
              <a:srgbClr val="2B3F6E"/>
            </a:solidFill>
            <a:prstDash val="solid"/>
            <a:headEnd type="none"/>
            <a:tailEnd type="none"/>
          </a:ln>
        </p:spPr>
      </p:sp>
      <p:sp>
        <p:nvSpPr>
          <p:cNvPr id="325" name="Text 325"/>
          <p:cNvSpPr txBox="1"/>
          <p:nvPr/>
        </p:nvSpPr>
        <p:spPr>
          <a:xfrm>
            <a:off x="4352544" y="26517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AC01</a:t>
            </a:r>
            <a:endParaRPr lang="en-US" sz="1050" dirty="0"/>
          </a:p>
        </p:txBody>
      </p:sp>
      <p:sp>
        <p:nvSpPr>
          <p:cNvPr id="326" name="Text 326"/>
          <p:cNvSpPr txBox="1"/>
          <p:nvPr/>
        </p:nvSpPr>
        <p:spPr>
          <a:xfrm>
            <a:off x="4956048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참여·코드 거부</a:t>
            </a:r>
            <a:endParaRPr lang="en-US" sz="1080" dirty="0"/>
          </a:p>
        </p:txBody>
      </p:sp>
      <p:sp>
        <p:nvSpPr>
          <p:cNvPr id="327" name="Text 327"/>
          <p:cNvSpPr txBox="1"/>
          <p:nvPr/>
        </p:nvSpPr>
        <p:spPr>
          <a:xfrm>
            <a:off x="6967728" y="26517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28" name="Text 328"/>
          <p:cNvSpPr txBox="1"/>
          <p:nvPr/>
        </p:nvSpPr>
        <p:spPr>
          <a:xfrm>
            <a:off x="4352544" y="29855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AC02</a:t>
            </a:r>
            <a:endParaRPr lang="en-US" sz="1050" dirty="0"/>
          </a:p>
        </p:txBody>
      </p:sp>
      <p:sp>
        <p:nvSpPr>
          <p:cNvPr id="329" name="Text 329"/>
          <p:cNvSpPr txBox="1"/>
          <p:nvPr/>
        </p:nvSpPr>
        <p:spPr>
          <a:xfrm>
            <a:off x="4956048" y="29855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보드 분리</a:t>
            </a:r>
            <a:endParaRPr lang="en-US" sz="1080" dirty="0"/>
          </a:p>
        </p:txBody>
      </p:sp>
      <p:sp>
        <p:nvSpPr>
          <p:cNvPr id="330" name="Text 330"/>
          <p:cNvSpPr txBox="1"/>
          <p:nvPr/>
        </p:nvSpPr>
        <p:spPr>
          <a:xfrm>
            <a:off x="6967728" y="29855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31" name="Text 331"/>
          <p:cNvSpPr txBox="1"/>
          <p:nvPr/>
        </p:nvSpPr>
        <p:spPr>
          <a:xfrm>
            <a:off x="4352544" y="33192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AC03</a:t>
            </a:r>
            <a:endParaRPr lang="en-US" sz="1050" dirty="0"/>
          </a:p>
        </p:txBody>
      </p:sp>
      <p:sp>
        <p:nvSpPr>
          <p:cNvPr id="332" name="Text 332"/>
          <p:cNvSpPr txBox="1"/>
          <p:nvPr/>
        </p:nvSpPr>
        <p:spPr>
          <a:xfrm>
            <a:off x="4956048" y="3319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그리는 중 펜 표시</a:t>
            </a:r>
            <a:endParaRPr lang="en-US" sz="1080" dirty="0"/>
          </a:p>
        </p:txBody>
      </p:sp>
      <p:sp>
        <p:nvSpPr>
          <p:cNvPr id="333" name="Text 333"/>
          <p:cNvSpPr txBox="1"/>
          <p:nvPr/>
        </p:nvSpPr>
        <p:spPr>
          <a:xfrm>
            <a:off x="6967728" y="3319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34" name="Text 334"/>
          <p:cNvSpPr txBox="1"/>
          <p:nvPr/>
        </p:nvSpPr>
        <p:spPr>
          <a:xfrm>
            <a:off x="4352544" y="36530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AC04</a:t>
            </a:r>
            <a:endParaRPr lang="en-US" sz="1050" dirty="0"/>
          </a:p>
        </p:txBody>
      </p:sp>
      <p:sp>
        <p:nvSpPr>
          <p:cNvPr id="335" name="Text 335"/>
          <p:cNvSpPr txBox="1"/>
          <p:nvPr/>
        </p:nvSpPr>
        <p:spPr>
          <a:xfrm>
            <a:off x="4956048" y="36530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도형 생성·이동·삭제</a:t>
            </a:r>
            <a:endParaRPr lang="en-US" sz="1080" dirty="0"/>
          </a:p>
        </p:txBody>
      </p:sp>
      <p:sp>
        <p:nvSpPr>
          <p:cNvPr id="336" name="Text 336"/>
          <p:cNvSpPr txBox="1"/>
          <p:nvPr/>
        </p:nvSpPr>
        <p:spPr>
          <a:xfrm>
            <a:off x="6967728" y="36530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37" name="Text 337"/>
          <p:cNvSpPr txBox="1"/>
          <p:nvPr/>
        </p:nvSpPr>
        <p:spPr>
          <a:xfrm>
            <a:off x="4352544" y="39867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AC05</a:t>
            </a:r>
            <a:endParaRPr lang="en-US" sz="1050" dirty="0"/>
          </a:p>
        </p:txBody>
      </p:sp>
      <p:sp>
        <p:nvSpPr>
          <p:cNvPr id="338" name="Text 338"/>
          <p:cNvSpPr txBox="1"/>
          <p:nvPr/>
        </p:nvSpPr>
        <p:spPr>
          <a:xfrm>
            <a:off x="4956048" y="39867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참여자 커서</a:t>
            </a:r>
            <a:endParaRPr lang="en-US" sz="1080" dirty="0"/>
          </a:p>
        </p:txBody>
      </p:sp>
      <p:sp>
        <p:nvSpPr>
          <p:cNvPr id="339" name="Text 339"/>
          <p:cNvSpPr txBox="1"/>
          <p:nvPr/>
        </p:nvSpPr>
        <p:spPr>
          <a:xfrm>
            <a:off x="6967728" y="39867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40" name="Text 340"/>
          <p:cNvSpPr txBox="1"/>
          <p:nvPr/>
        </p:nvSpPr>
        <p:spPr>
          <a:xfrm>
            <a:off x="4352544" y="43205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AC06</a:t>
            </a:r>
            <a:endParaRPr lang="en-US" sz="1050" dirty="0"/>
          </a:p>
        </p:txBody>
      </p:sp>
      <p:sp>
        <p:nvSpPr>
          <p:cNvPr id="341" name="Text 341"/>
          <p:cNvSpPr txBox="1"/>
          <p:nvPr/>
        </p:nvSpPr>
        <p:spPr>
          <a:xfrm>
            <a:off x="4956048" y="43205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 잠금</a:t>
            </a:r>
            <a:endParaRPr lang="en-US" sz="1080" dirty="0"/>
          </a:p>
        </p:txBody>
      </p:sp>
      <p:sp>
        <p:nvSpPr>
          <p:cNvPr id="342" name="Text 342"/>
          <p:cNvSpPr txBox="1"/>
          <p:nvPr/>
        </p:nvSpPr>
        <p:spPr>
          <a:xfrm>
            <a:off x="6967728" y="43205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43" name="Text 343"/>
          <p:cNvSpPr txBox="1"/>
          <p:nvPr/>
        </p:nvSpPr>
        <p:spPr>
          <a:xfrm>
            <a:off x="4352544" y="46542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AC07</a:t>
            </a:r>
            <a:endParaRPr lang="en-US" sz="1050" dirty="0"/>
          </a:p>
        </p:txBody>
      </p:sp>
      <p:sp>
        <p:nvSpPr>
          <p:cNvPr id="344" name="Text 344"/>
          <p:cNvSpPr txBox="1"/>
          <p:nvPr/>
        </p:nvSpPr>
        <p:spPr>
          <a:xfrm>
            <a:off x="4956048" y="46542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잠금 해제·만료</a:t>
            </a:r>
            <a:endParaRPr lang="en-US" sz="1080" dirty="0"/>
          </a:p>
        </p:txBody>
      </p:sp>
      <p:sp>
        <p:nvSpPr>
          <p:cNvPr id="345" name="Text 345"/>
          <p:cNvSpPr txBox="1"/>
          <p:nvPr/>
        </p:nvSpPr>
        <p:spPr>
          <a:xfrm>
            <a:off x="6967728" y="4654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46" name="Text 346"/>
          <p:cNvSpPr txBox="1"/>
          <p:nvPr/>
        </p:nvSpPr>
        <p:spPr>
          <a:xfrm>
            <a:off x="4352544" y="49880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AC08</a:t>
            </a:r>
            <a:endParaRPr lang="en-US" sz="1050" dirty="0"/>
          </a:p>
        </p:txBody>
      </p:sp>
      <p:sp>
        <p:nvSpPr>
          <p:cNvPr id="347" name="Text 347"/>
          <p:cNvSpPr txBox="1"/>
          <p:nvPr/>
        </p:nvSpPr>
        <p:spPr>
          <a:xfrm>
            <a:off x="4956048" y="49880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업로드</a:t>
            </a:r>
            <a:endParaRPr lang="en-US" sz="1080" dirty="0"/>
          </a:p>
        </p:txBody>
      </p:sp>
      <p:sp>
        <p:nvSpPr>
          <p:cNvPr id="348" name="Text 348"/>
          <p:cNvSpPr txBox="1"/>
          <p:nvPr/>
        </p:nvSpPr>
        <p:spPr>
          <a:xfrm>
            <a:off x="6967728" y="49880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49" name="Text 349"/>
          <p:cNvSpPr txBox="1"/>
          <p:nvPr/>
        </p:nvSpPr>
        <p:spPr>
          <a:xfrm>
            <a:off x="7973568" y="26517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AC09</a:t>
            </a:r>
            <a:endParaRPr lang="en-US" sz="1050" dirty="0"/>
          </a:p>
        </p:txBody>
      </p:sp>
      <p:sp>
        <p:nvSpPr>
          <p:cNvPr id="350" name="Text 350"/>
          <p:cNvSpPr txBox="1"/>
          <p:nvPr/>
        </p:nvSpPr>
        <p:spPr>
          <a:xfrm>
            <a:off x="8577072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잘못된 파일 거부</a:t>
            </a:r>
            <a:endParaRPr lang="en-US" sz="1080" dirty="0"/>
          </a:p>
        </p:txBody>
      </p:sp>
      <p:sp>
        <p:nvSpPr>
          <p:cNvPr id="351" name="Text 351"/>
          <p:cNvSpPr txBox="1"/>
          <p:nvPr/>
        </p:nvSpPr>
        <p:spPr>
          <a:xfrm>
            <a:off x="10588752" y="26517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52" name="Text 352"/>
          <p:cNvSpPr txBox="1"/>
          <p:nvPr/>
        </p:nvSpPr>
        <p:spPr>
          <a:xfrm>
            <a:off x="7973568" y="29855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AC10</a:t>
            </a:r>
            <a:endParaRPr lang="en-US" sz="1050" dirty="0"/>
          </a:p>
        </p:txBody>
      </p:sp>
      <p:sp>
        <p:nvSpPr>
          <p:cNvPr id="353" name="Text 353"/>
          <p:cNvSpPr txBox="1"/>
          <p:nvPr/>
        </p:nvSpPr>
        <p:spPr>
          <a:xfrm>
            <a:off x="8577072" y="29855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선택·드래그·붙여넣기</a:t>
            </a:r>
            <a:endParaRPr lang="en-US" sz="1080" dirty="0"/>
          </a:p>
        </p:txBody>
      </p:sp>
      <p:sp>
        <p:nvSpPr>
          <p:cNvPr id="354" name="Text 354"/>
          <p:cNvSpPr txBox="1"/>
          <p:nvPr/>
        </p:nvSpPr>
        <p:spPr>
          <a:xfrm>
            <a:off x="10588752" y="29855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통과(수동)</a:t>
            </a:r>
            <a:endParaRPr lang="en-US" sz="1050" dirty="0"/>
          </a:p>
        </p:txBody>
      </p:sp>
      <p:sp>
        <p:nvSpPr>
          <p:cNvPr id="355" name="Text 355"/>
          <p:cNvSpPr txBox="1"/>
          <p:nvPr/>
        </p:nvSpPr>
        <p:spPr>
          <a:xfrm>
            <a:off x="7973568" y="33192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AC11</a:t>
            </a:r>
            <a:endParaRPr lang="en-US" sz="1050" dirty="0"/>
          </a:p>
        </p:txBody>
      </p:sp>
      <p:sp>
        <p:nvSpPr>
          <p:cNvPr id="356" name="Text 356"/>
          <p:cNvSpPr txBox="1"/>
          <p:nvPr/>
        </p:nvSpPr>
        <p:spPr>
          <a:xfrm>
            <a:off x="8577072" y="3319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영상 임베드</a:t>
            </a:r>
            <a:endParaRPr lang="en-US" sz="1080" dirty="0"/>
          </a:p>
        </p:txBody>
      </p:sp>
      <p:sp>
        <p:nvSpPr>
          <p:cNvPr id="357" name="Text 357"/>
          <p:cNvSpPr txBox="1"/>
          <p:nvPr/>
        </p:nvSpPr>
        <p:spPr>
          <a:xfrm>
            <a:off x="10588752" y="3319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58" name="Text 358"/>
          <p:cNvSpPr txBox="1"/>
          <p:nvPr/>
        </p:nvSpPr>
        <p:spPr>
          <a:xfrm>
            <a:off x="7973568" y="36530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AC12</a:t>
            </a:r>
            <a:endParaRPr lang="en-US" sz="1050" dirty="0"/>
          </a:p>
        </p:txBody>
      </p:sp>
      <p:sp>
        <p:nvSpPr>
          <p:cNvPr id="359" name="Text 359"/>
          <p:cNvSpPr txBox="1"/>
          <p:nvPr/>
        </p:nvSpPr>
        <p:spPr>
          <a:xfrm>
            <a:off x="8577072" y="36530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저장</a:t>
            </a:r>
            <a:endParaRPr lang="en-US" sz="1080" dirty="0"/>
          </a:p>
        </p:txBody>
      </p:sp>
      <p:sp>
        <p:nvSpPr>
          <p:cNvPr id="360" name="Text 360"/>
          <p:cNvSpPr txBox="1"/>
          <p:nvPr/>
        </p:nvSpPr>
        <p:spPr>
          <a:xfrm>
            <a:off x="10588752" y="36530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61" name="Text 361"/>
          <p:cNvSpPr txBox="1"/>
          <p:nvPr/>
        </p:nvSpPr>
        <p:spPr>
          <a:xfrm>
            <a:off x="7973568" y="39867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AC13</a:t>
            </a:r>
            <a:endParaRPr lang="en-US" sz="1050" dirty="0"/>
          </a:p>
        </p:txBody>
      </p:sp>
      <p:sp>
        <p:nvSpPr>
          <p:cNvPr id="362" name="Text 362"/>
          <p:cNvSpPr txBox="1"/>
          <p:nvPr/>
        </p:nvSpPr>
        <p:spPr>
          <a:xfrm>
            <a:off x="8577072" y="39867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재접속 복원</a:t>
            </a:r>
            <a:endParaRPr lang="en-US" sz="1080" dirty="0"/>
          </a:p>
        </p:txBody>
      </p:sp>
      <p:sp>
        <p:nvSpPr>
          <p:cNvPr id="363" name="Text 363"/>
          <p:cNvSpPr txBox="1"/>
          <p:nvPr/>
        </p:nvSpPr>
        <p:spPr>
          <a:xfrm>
            <a:off x="10588752" y="39867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64" name="Text 364"/>
          <p:cNvSpPr txBox="1"/>
          <p:nvPr/>
        </p:nvSpPr>
        <p:spPr>
          <a:xfrm>
            <a:off x="7973568" y="43205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AC14</a:t>
            </a:r>
            <a:endParaRPr lang="en-US" sz="1050" dirty="0"/>
          </a:p>
        </p:txBody>
      </p:sp>
      <p:sp>
        <p:nvSpPr>
          <p:cNvPr id="365" name="Text 365"/>
          <p:cNvSpPr txBox="1"/>
          <p:nvPr/>
        </p:nvSpPr>
        <p:spPr>
          <a:xfrm>
            <a:off x="8577072" y="43205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열람자 변경 거부</a:t>
            </a:r>
            <a:endParaRPr lang="en-US" sz="1080" dirty="0"/>
          </a:p>
        </p:txBody>
      </p:sp>
      <p:sp>
        <p:nvSpPr>
          <p:cNvPr id="366" name="Text 366"/>
          <p:cNvSpPr txBox="1"/>
          <p:nvPr/>
        </p:nvSpPr>
        <p:spPr>
          <a:xfrm>
            <a:off x="10588752" y="43205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통과</a:t>
            </a:r>
            <a:endParaRPr lang="en-US" sz="1050" dirty="0"/>
          </a:p>
        </p:txBody>
      </p:sp>
      <p:sp>
        <p:nvSpPr>
          <p:cNvPr id="367" name="Box 367"/>
          <p:cNvSpPr/>
          <p:nvPr/>
        </p:nvSpPr>
        <p:spPr>
          <a:xfrm>
            <a:off x="7863840" y="4636008"/>
            <a:ext cx="3584448" cy="310896"/>
          </a:xfrm>
          <a:prstGeom prst="roundRect">
            <a:avLst>
              <a:gd name="adj" fmla="val 29412"/>
            </a:avLst>
          </a:prstGeom>
          <a:solidFill>
            <a:srgbClr val="43265D"/>
          </a:solidFill>
          <a:ln w="11430">
            <a:solidFill>
              <a:srgbClr val="9B61BB"/>
            </a:solidFill>
            <a:prstDash val="solid"/>
          </a:ln>
        </p:spPr>
      </p:sp>
      <p:sp>
        <p:nvSpPr>
          <p:cNvPr id="368" name="Text 368"/>
          <p:cNvSpPr txBox="1"/>
          <p:nvPr/>
        </p:nvSpPr>
        <p:spPr>
          <a:xfrm>
            <a:off x="7973568" y="46542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AC15</a:t>
            </a:r>
            <a:endParaRPr lang="en-US" sz="1050" dirty="0"/>
          </a:p>
        </p:txBody>
      </p:sp>
      <p:sp>
        <p:nvSpPr>
          <p:cNvPr id="369" name="Text 369"/>
          <p:cNvSpPr txBox="1"/>
          <p:nvPr/>
        </p:nvSpPr>
        <p:spPr>
          <a:xfrm>
            <a:off x="8577072" y="46542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 4대 LAN 접속</a:t>
            </a:r>
            <a:endParaRPr lang="en-US" sz="1080" dirty="0"/>
          </a:p>
        </p:txBody>
      </p:sp>
      <p:sp>
        <p:nvSpPr>
          <p:cNvPr id="370" name="Text 370"/>
          <p:cNvSpPr txBox="1"/>
          <p:nvPr/>
        </p:nvSpPr>
        <p:spPr>
          <a:xfrm>
            <a:off x="10588752" y="4654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미실행</a:t>
            </a:r>
            <a:endParaRPr lang="en-US" sz="1050" dirty="0"/>
          </a:p>
        </p:txBody>
      </p:sp>
      <p:sp>
        <p:nvSpPr>
          <p:cNvPr id="371" name="Text 371"/>
          <p:cNvSpPr txBox="1"/>
          <p:nvPr/>
        </p:nvSpPr>
        <p:spPr>
          <a:xfrm>
            <a:off x="7973568" y="498805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= 스크립트 검사 · 수동 = 브라우저에서 직접 조작</a:t>
            </a:r>
            <a:endParaRPr lang="en-US" sz="930" dirty="0"/>
          </a:p>
        </p:txBody>
      </p:sp>
      <p:sp>
        <p:nvSpPr>
          <p:cNvPr id="372" name="Box 372"/>
          <p:cNvSpPr/>
          <p:nvPr/>
        </p:nvSpPr>
        <p:spPr>
          <a:xfrm>
            <a:off x="4096512" y="5559552"/>
            <a:ext cx="7498080" cy="704088"/>
          </a:xfrm>
          <a:prstGeom prst="roundRect">
            <a:avLst>
              <a:gd name="adj" fmla="val 15584"/>
            </a:avLst>
          </a:prstGeom>
          <a:solidFill>
            <a:srgbClr val="0D1E43"/>
          </a:solidFill>
          <a:ln w="11430">
            <a:solidFill>
              <a:srgbClr val="34548E"/>
            </a:solidFill>
            <a:prstDash val="solid"/>
          </a:ln>
        </p:spPr>
      </p:sp>
      <p:sp>
        <p:nvSpPr>
          <p:cNvPr id="373" name="Text 373"/>
          <p:cNvSpPr txBox="1"/>
          <p:nvPr/>
        </p:nvSpPr>
        <p:spPr>
          <a:xfrm>
            <a:off x="4352544" y="5559552"/>
            <a:ext cx="1371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 17개 통과</a:t>
            </a:r>
            <a:endParaRPr lang="en-US" sz="1150" dirty="0"/>
          </a:p>
        </p:txBody>
      </p:sp>
      <p:sp>
        <p:nvSpPr>
          <p:cNvPr id="374" name="Text 374"/>
          <p:cNvSpPr txBox="1"/>
          <p:nvPr/>
        </p:nvSpPr>
        <p:spPr>
          <a:xfrm>
            <a:off x="5760720" y="56509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공유 업무 · 연결선 · 다중 선택 · 초대 코드 · 크기 조절 · 메모 · 보드 관리 · 현황판</a:t>
            </a:r>
            <a:endParaRPr lang="en-US" sz="1050" dirty="0"/>
          </a:p>
        </p:txBody>
      </p:sp>
      <p:sp>
        <p:nvSpPr>
          <p:cNvPr id="375" name="Text 375"/>
          <p:cNvSpPr txBox="1"/>
          <p:nvPr/>
        </p:nvSpPr>
        <p:spPr>
          <a:xfrm>
            <a:off x="5760720" y="590702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작업실 생성·삭제 · 따라가기 · 선택 표시 · 체크리스트 · 업무 삭제 포함, 브라우저 확인 3개는 별도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위험과 대응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 · 네트워크 · 3주 범위에서 남은 위험과 미리 정한 축소 기준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300" name="Box 300"/>
          <p:cNvSpPr/>
          <p:nvPr/>
        </p:nvSpPr>
        <p:spPr>
          <a:xfrm>
            <a:off x="594360" y="2194560"/>
            <a:ext cx="3474720" cy="2999232"/>
          </a:xfrm>
          <a:prstGeom prst="roundRect">
            <a:avLst>
              <a:gd name="adj" fmla="val 4268"/>
            </a:avLst>
          </a:prstGeom>
          <a:solidFill>
            <a:srgbClr val="142449"/>
          </a:solidFill>
          <a:ln w="11430">
            <a:solidFill>
              <a:srgbClr val="2C73A7"/>
            </a:solidFill>
            <a:prstDash val="solid"/>
          </a:ln>
        </p:spPr>
      </p:sp>
      <p:sp>
        <p:nvSpPr>
          <p:cNvPr id="301" name="Pill 301"/>
          <p:cNvSpPr/>
          <p:nvPr/>
        </p:nvSpPr>
        <p:spPr>
          <a:xfrm>
            <a:off x="1234440" y="2048256"/>
            <a:ext cx="2194560" cy="310896"/>
          </a:xfrm>
          <a:prstGeom prst="roundRect">
            <a:avLst>
              <a:gd name="adj" fmla="val 35294"/>
            </a:avLst>
          </a:prstGeom>
          <a:solidFill>
            <a:srgbClr val="103866"/>
          </a:solidFill>
          <a:ln w="11430">
            <a:solidFill>
              <a:srgbClr val="377CBC"/>
            </a:solidFill>
            <a:prstDash val="solid"/>
          </a:ln>
        </p:spPr>
      </p:sp>
      <p:sp>
        <p:nvSpPr>
          <p:cNvPr id="302" name="Text 302"/>
          <p:cNvSpPr txBox="1"/>
          <p:nvPr/>
        </p:nvSpPr>
        <p:spPr>
          <a:xfrm>
            <a:off x="1307592" y="204825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 · 네트워크</a:t>
            </a:r>
            <a:endParaRPr lang="en-US" sz="1300" dirty="0"/>
          </a:p>
        </p:txBody>
      </p:sp>
      <p:sp>
        <p:nvSpPr>
          <p:cNvPr id="303" name="Dot 303"/>
          <p:cNvSpPr/>
          <p:nvPr/>
        </p:nvSpPr>
        <p:spPr>
          <a:xfrm>
            <a:off x="850392" y="2688336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04" name="Text 304"/>
          <p:cNvSpPr txBox="1"/>
          <p:nvPr/>
        </p:nvSpPr>
        <p:spPr>
          <a:xfrm>
            <a:off x="1014984" y="25968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Node.js 설치·실행·방화벽 제한</a:t>
            </a:r>
            <a:endParaRPr lang="en-US" sz="1160" dirty="0"/>
          </a:p>
        </p:txBody>
      </p:sp>
      <p:sp>
        <p:nvSpPr>
          <p:cNvPr id="305" name="Text 305"/>
          <p:cNvSpPr txBox="1"/>
          <p:nvPr/>
        </p:nvSpPr>
        <p:spPr>
          <a:xfrm>
            <a:off x="1014984" y="2880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1일 차에 학교 PC에서 실행 시험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안 되면 대체 PC·허용 LAN 협의</a:t>
            </a:r>
            <a:endParaRPr lang="en-US" sz="1050" dirty="0"/>
          </a:p>
        </p:txBody>
      </p:sp>
      <p:sp>
        <p:nvSpPr>
          <p:cNvPr id="306" name="Dot 306"/>
          <p:cNvSpPr/>
          <p:nvPr/>
        </p:nvSpPr>
        <p:spPr>
          <a:xfrm>
            <a:off x="850392" y="3547872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07" name="Text 307"/>
          <p:cNvSpPr txBox="1"/>
          <p:nvPr/>
        </p:nvSpPr>
        <p:spPr>
          <a:xfrm>
            <a:off x="1014984" y="345643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다른 PC가 서버에 접속하지 못함</a:t>
            </a:r>
            <a:endParaRPr lang="en-US" sz="1160" dirty="0"/>
          </a:p>
        </p:txBody>
      </p:sp>
      <p:sp>
        <p:nvSpPr>
          <p:cNvPr id="308" name="Text 308"/>
          <p:cNvSpPr txBox="1"/>
          <p:nvPr/>
        </p:nvSpPr>
        <p:spPr>
          <a:xfrm>
            <a:off x="1014984" y="37398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 PC의 LAN IP·포트 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네트워크 격리 여부 확인</a:t>
            </a:r>
            <a:endParaRPr lang="en-US" sz="1050" dirty="0"/>
          </a:p>
        </p:txBody>
      </p:sp>
      <p:sp>
        <p:nvSpPr>
          <p:cNvPr id="309" name="Dot 309"/>
          <p:cNvSpPr/>
          <p:nvPr/>
        </p:nvSpPr>
        <p:spPr>
          <a:xfrm>
            <a:off x="850392" y="4407408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10" name="Text 310"/>
          <p:cNvSpPr txBox="1"/>
          <p:nvPr/>
        </p:nvSpPr>
        <p:spPr>
          <a:xfrm>
            <a:off x="1014984" y="431596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영상 iframe 차단</a:t>
            </a:r>
            <a:endParaRPr lang="en-US" sz="1160" dirty="0"/>
          </a:p>
        </p:txBody>
      </p:sp>
      <p:sp>
        <p:nvSpPr>
          <p:cNvPr id="311" name="Text 311"/>
          <p:cNvSpPr txBox="1"/>
          <p:nvPr/>
        </p:nvSpPr>
        <p:spPr>
          <a:xfrm>
            <a:off x="1014984" y="45994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첫 주에 임베드 시험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막히면 URL 링크 카드로 대체</a:t>
            </a:r>
            <a:endParaRPr lang="en-US" sz="1050" dirty="0"/>
          </a:p>
        </p:txBody>
      </p:sp>
      <p:sp>
        <p:nvSpPr>
          <p:cNvPr id="312" name="Box 312"/>
          <p:cNvSpPr/>
          <p:nvPr/>
        </p:nvSpPr>
        <p:spPr>
          <a:xfrm>
            <a:off x="4325112" y="2194560"/>
            <a:ext cx="3474720" cy="2999232"/>
          </a:xfrm>
          <a:prstGeom prst="roundRect">
            <a:avLst>
              <a:gd name="adj" fmla="val 4268"/>
            </a:avLst>
          </a:prstGeom>
          <a:solidFill>
            <a:srgbClr val="142449"/>
          </a:solidFill>
          <a:ln w="11430">
            <a:solidFill>
              <a:srgbClr val="7253B2"/>
            </a:solidFill>
            <a:prstDash val="solid"/>
          </a:ln>
        </p:spPr>
      </p:sp>
      <p:sp>
        <p:nvSpPr>
          <p:cNvPr id="313" name="Pill 313"/>
          <p:cNvSpPr/>
          <p:nvPr/>
        </p:nvSpPr>
        <p:spPr>
          <a:xfrm>
            <a:off x="4965192" y="2048256"/>
            <a:ext cx="2194560" cy="310896"/>
          </a:xfrm>
          <a:prstGeom prst="roundRect">
            <a:avLst>
              <a:gd name="adj" fmla="val 35294"/>
            </a:avLst>
          </a:prstGeom>
          <a:solidFill>
            <a:srgbClr val="35266B"/>
          </a:solidFill>
          <a:ln w="11430">
            <a:solidFill>
              <a:srgbClr val="7960C7"/>
            </a:solidFill>
            <a:prstDash val="solid"/>
          </a:ln>
        </p:spPr>
      </p:sp>
      <p:sp>
        <p:nvSpPr>
          <p:cNvPr id="314" name="Text 314"/>
          <p:cNvSpPr txBox="1"/>
          <p:nvPr/>
        </p:nvSpPr>
        <p:spPr>
          <a:xfrm>
            <a:off x="5038344" y="204825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동시 편집 · 보안</a:t>
            </a:r>
            <a:endParaRPr lang="en-US" sz="1300" dirty="0"/>
          </a:p>
        </p:txBody>
      </p:sp>
      <p:sp>
        <p:nvSpPr>
          <p:cNvPr id="315" name="Dot 315"/>
          <p:cNvSpPr/>
          <p:nvPr/>
        </p:nvSpPr>
        <p:spPr>
          <a:xfrm>
            <a:off x="4581144" y="2688336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316" name="Text 316"/>
          <p:cNvSpPr txBox="1"/>
          <p:nvPr/>
        </p:nvSpPr>
        <p:spPr>
          <a:xfrm>
            <a:off x="4745736" y="25968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편집 충돌·풀리지 않는 잠금</a:t>
            </a:r>
            <a:endParaRPr lang="en-US" sz="1160" dirty="0"/>
          </a:p>
        </p:txBody>
      </p:sp>
      <p:sp>
        <p:nvSpPr>
          <p:cNvPr id="317" name="Text 317"/>
          <p:cNvSpPr txBox="1"/>
          <p:nvPr/>
        </p:nvSpPr>
        <p:spPr>
          <a:xfrm>
            <a:off x="4745736" y="2880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 선점 잠금·30초 만료·종료 시 해제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버전이 다르면 저장 거부</a:t>
            </a:r>
            <a:endParaRPr lang="en-US" sz="1050" dirty="0"/>
          </a:p>
        </p:txBody>
      </p:sp>
      <p:sp>
        <p:nvSpPr>
          <p:cNvPr id="318" name="Dot 318"/>
          <p:cNvSpPr/>
          <p:nvPr/>
        </p:nvSpPr>
        <p:spPr>
          <a:xfrm>
            <a:off x="4581144" y="3547872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319" name="Text 319"/>
          <p:cNvSpPr txBox="1"/>
          <p:nvPr/>
        </p:nvSpPr>
        <p:spPr>
          <a:xfrm>
            <a:off x="4745736" y="345643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화면과 DB 내용 불일치</a:t>
            </a:r>
            <a:endParaRPr lang="en-US" sz="1160" dirty="0"/>
          </a:p>
        </p:txBody>
      </p:sp>
      <p:sp>
        <p:nvSpPr>
          <p:cNvPr id="320" name="Text 320"/>
          <p:cNvSpPr txBox="1"/>
          <p:nvPr/>
        </p:nvSpPr>
        <p:spPr>
          <a:xfrm>
            <a:off x="4745736" y="37398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 변경은 Node 한 경로로만 처리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성공 응답을 받은 뒤 저장 표시</a:t>
            </a:r>
            <a:endParaRPr lang="en-US" sz="1050" dirty="0"/>
          </a:p>
        </p:txBody>
      </p:sp>
      <p:sp>
        <p:nvSpPr>
          <p:cNvPr id="321" name="Dot 321"/>
          <p:cNvSpPr/>
          <p:nvPr/>
        </p:nvSpPr>
        <p:spPr>
          <a:xfrm>
            <a:off x="4581144" y="4407408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322" name="Text 322"/>
          <p:cNvSpPr txBox="1"/>
          <p:nvPr/>
        </p:nvSpPr>
        <p:spPr>
          <a:xfrm>
            <a:off x="4745736" y="431596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권한 위조·업로드 악용</a:t>
            </a:r>
            <a:endParaRPr lang="en-US" sz="1160" dirty="0"/>
          </a:p>
        </p:txBody>
      </p:sp>
      <p:sp>
        <p:nvSpPr>
          <p:cNvPr id="323" name="Text 323"/>
          <p:cNvSpPr txBox="1"/>
          <p:nvPr/>
        </p:nvSpPr>
        <p:spPr>
          <a:xfrm>
            <a:off x="4745736" y="45994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초대 코드·세션·멤버십 검사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형식·크기 검사</a:t>
            </a:r>
            <a:endParaRPr lang="en-US" sz="1050" dirty="0"/>
          </a:p>
        </p:txBody>
      </p:sp>
      <p:sp>
        <p:nvSpPr>
          <p:cNvPr id="324" name="Box 324"/>
          <p:cNvSpPr/>
          <p:nvPr/>
        </p:nvSpPr>
        <p:spPr>
          <a:xfrm>
            <a:off x="8065008" y="2194560"/>
            <a:ext cx="3474720" cy="2999232"/>
          </a:xfrm>
          <a:prstGeom prst="roundRect">
            <a:avLst>
              <a:gd name="adj" fmla="val 4268"/>
            </a:avLst>
          </a:prstGeom>
          <a:solidFill>
            <a:srgbClr val="142449"/>
          </a:solidFill>
          <a:ln w="11430">
            <a:solidFill>
              <a:srgbClr val="81539B"/>
            </a:solidFill>
            <a:prstDash val="solid"/>
          </a:ln>
        </p:spPr>
      </p:sp>
      <p:sp>
        <p:nvSpPr>
          <p:cNvPr id="325" name="Pill 325"/>
          <p:cNvSpPr/>
          <p:nvPr/>
        </p:nvSpPr>
        <p:spPr>
          <a:xfrm>
            <a:off x="8705088" y="2048256"/>
            <a:ext cx="2194560" cy="310896"/>
          </a:xfrm>
          <a:prstGeom prst="roundRect">
            <a:avLst>
              <a:gd name="adj" fmla="val 35294"/>
            </a:avLst>
          </a:prstGeom>
          <a:solidFill>
            <a:srgbClr val="43265D"/>
          </a:solidFill>
          <a:ln w="11430">
            <a:solidFill>
              <a:srgbClr val="9B61BB"/>
            </a:solidFill>
            <a:prstDash val="solid"/>
          </a:ln>
        </p:spPr>
      </p:sp>
      <p:sp>
        <p:nvSpPr>
          <p:cNvPr id="326" name="Text 326"/>
          <p:cNvSpPr txBox="1"/>
          <p:nvPr/>
        </p:nvSpPr>
        <p:spPr>
          <a:xfrm>
            <a:off x="8778240" y="204825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3주 범위</a:t>
            </a:r>
            <a:endParaRPr lang="en-US" sz="1300" dirty="0"/>
          </a:p>
        </p:txBody>
      </p:sp>
      <p:sp>
        <p:nvSpPr>
          <p:cNvPr id="327" name="Dot 327"/>
          <p:cNvSpPr/>
          <p:nvPr/>
        </p:nvSpPr>
        <p:spPr>
          <a:xfrm>
            <a:off x="8321040" y="2688336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28" name="Text 328"/>
          <p:cNvSpPr txBox="1"/>
          <p:nvPr/>
        </p:nvSpPr>
        <p:spPr>
          <a:xfrm>
            <a:off x="8485632" y="25968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3주 안에 하기엔 많은 기능</a:t>
            </a:r>
            <a:endParaRPr lang="en-US" sz="1160" dirty="0"/>
          </a:p>
        </p:txBody>
      </p:sp>
      <p:sp>
        <p:nvSpPr>
          <p:cNvPr id="329" name="Text 329"/>
          <p:cNvSpPr txBox="1"/>
          <p:nvPr/>
        </p:nvSpPr>
        <p:spPr>
          <a:xfrm>
            <a:off x="8485632" y="2880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P0를 먼저 완성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P1·P2는 뒤로 미룸</a:t>
            </a:r>
            <a:endParaRPr lang="en-US" sz="1050" dirty="0"/>
          </a:p>
        </p:txBody>
      </p:sp>
      <p:sp>
        <p:nvSpPr>
          <p:cNvPr id="330" name="Dot 330"/>
          <p:cNvSpPr/>
          <p:nvPr/>
        </p:nvSpPr>
        <p:spPr>
          <a:xfrm>
            <a:off x="8321040" y="3547872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31" name="Text 331"/>
          <p:cNvSpPr txBox="1"/>
          <p:nvPr/>
        </p:nvSpPr>
        <p:spPr>
          <a:xfrm>
            <a:off x="8485632" y="345643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여러 명의 코드 충돌</a:t>
            </a:r>
            <a:endParaRPr lang="en-US" sz="1160" dirty="0"/>
          </a:p>
        </p:txBody>
      </p:sp>
      <p:sp>
        <p:nvSpPr>
          <p:cNvPr id="332" name="Text 332"/>
          <p:cNvSpPr txBox="1"/>
          <p:nvPr/>
        </p:nvSpPr>
        <p:spPr>
          <a:xfrm>
            <a:off x="8485632" y="37398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이름 규칙·API 계약·PR로 조율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하루 한 번 통합 실행</a:t>
            </a:r>
            <a:endParaRPr lang="en-US" sz="1050" dirty="0"/>
          </a:p>
        </p:txBody>
      </p:sp>
      <p:sp>
        <p:nvSpPr>
          <p:cNvPr id="333" name="Dot 333"/>
          <p:cNvSpPr/>
          <p:nvPr/>
        </p:nvSpPr>
        <p:spPr>
          <a:xfrm>
            <a:off x="8321040" y="4407408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34" name="Text 334"/>
          <p:cNvSpPr txBox="1"/>
          <p:nvPr/>
        </p:nvSpPr>
        <p:spPr>
          <a:xfrm>
            <a:off x="8485632" y="431596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학교 PC 4대 검증(AC15) 미실행</a:t>
            </a:r>
            <a:endParaRPr lang="en-US" sz="1160" dirty="0"/>
          </a:p>
        </p:txBody>
      </p:sp>
      <p:sp>
        <p:nvSpPr>
          <p:cNvPr id="335" name="Text 335"/>
          <p:cNvSpPr txBox="1"/>
          <p:nvPr/>
        </p:nvSpPr>
        <p:spPr>
          <a:xfrm>
            <a:off x="8485632" y="45994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사전 점검·자동 리허설 스크립트 준비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시연 전에 PC 4대로 직접 리허설</a:t>
            </a:r>
            <a:endParaRPr lang="en-US" sz="1050" dirty="0"/>
          </a:p>
        </p:txBody>
      </p:sp>
      <p:sp>
        <p:nvSpPr>
          <p:cNvPr id="336" name="Box 336"/>
          <p:cNvSpPr/>
          <p:nvPr/>
        </p:nvSpPr>
        <p:spPr>
          <a:xfrm>
            <a:off x="640080" y="5376672"/>
            <a:ext cx="10899648" cy="868680"/>
          </a:xfrm>
          <a:prstGeom prst="roundRect">
            <a:avLst>
              <a:gd name="adj" fmla="val 12632"/>
            </a:avLst>
          </a:prstGeom>
          <a:solidFill>
            <a:srgbClr val="11284B"/>
          </a:solidFill>
          <a:ln w="11430">
            <a:solidFill>
              <a:srgbClr val="34548E"/>
            </a:solidFill>
            <a:prstDash val="solid"/>
          </a:ln>
        </p:spPr>
      </p:sp>
      <p:sp>
        <p:nvSpPr>
          <p:cNvPr id="337" name="Text 337"/>
          <p:cNvSpPr txBox="1"/>
          <p:nvPr/>
        </p:nvSpPr>
        <p:spPr>
          <a:xfrm>
            <a:off x="896112" y="53766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실패 시 축소 기준</a:t>
            </a:r>
            <a:endParaRPr lang="en-US" sz="1300" dirty="0"/>
          </a:p>
        </p:txBody>
      </p:sp>
      <p:sp>
        <p:nvSpPr>
          <p:cNvPr id="338" name="Line 338"/>
          <p:cNvSpPr/>
          <p:nvPr/>
        </p:nvSpPr>
        <p:spPr>
          <a:xfrm>
            <a:off x="2743200" y="5532120"/>
            <a:ext cx="0" cy="566928"/>
          </a:xfrm>
          <a:prstGeom prst="line">
            <a:avLst/>
          </a:prstGeom>
          <a:noFill/>
          <a:ln w="9525">
            <a:solidFill>
              <a:srgbClr val="2B4A80"/>
            </a:solidFill>
            <a:prstDash val="solid"/>
            <a:headEnd type="none"/>
            <a:tailEnd type="none"/>
          </a:ln>
        </p:spPr>
      </p:sp>
      <p:sp>
        <p:nvSpPr>
          <p:cNvPr id="339" name="Text 339"/>
          <p:cNvSpPr txBox="1"/>
          <p:nvPr/>
        </p:nvSpPr>
        <p:spPr>
          <a:xfrm>
            <a:off x="2871216" y="5504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1주 종료</a:t>
            </a:r>
            <a:endParaRPr lang="en-US" sz="1100" dirty="0"/>
          </a:p>
        </p:txBody>
      </p:sp>
      <p:sp>
        <p:nvSpPr>
          <p:cNvPr id="340" name="Text 340"/>
          <p:cNvSpPr txBox="1"/>
          <p:nvPr/>
        </p:nvSpPr>
        <p:spPr>
          <a:xfrm>
            <a:off x="2871216" y="57698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2인 펜 동기화 실패 → 실시간 연결부터 해결</a:t>
            </a:r>
            <a:endParaRPr lang="en-US" sz="1020" dirty="0"/>
          </a:p>
        </p:txBody>
      </p:sp>
      <p:sp>
        <p:nvSpPr>
          <p:cNvPr id="341" name="Line 341"/>
          <p:cNvSpPr/>
          <p:nvPr/>
        </p:nvSpPr>
        <p:spPr>
          <a:xfrm>
            <a:off x="5577840" y="5532120"/>
            <a:ext cx="0" cy="566928"/>
          </a:xfrm>
          <a:prstGeom prst="line">
            <a:avLst/>
          </a:prstGeom>
          <a:noFill/>
          <a:ln w="9525">
            <a:solidFill>
              <a:srgbClr val="2B4A80"/>
            </a:solidFill>
            <a:prstDash val="solid"/>
            <a:headEnd type="none"/>
            <a:tailEnd type="none"/>
          </a:ln>
        </p:spPr>
      </p:sp>
      <p:sp>
        <p:nvSpPr>
          <p:cNvPr id="342" name="Text 342"/>
          <p:cNvSpPr txBox="1"/>
          <p:nvPr/>
        </p:nvSpPr>
        <p:spPr>
          <a:xfrm>
            <a:off x="5705856" y="5504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2주 종료</a:t>
            </a:r>
            <a:endParaRPr lang="en-US" sz="1100" dirty="0"/>
          </a:p>
        </p:txBody>
      </p:sp>
      <p:sp>
        <p:nvSpPr>
          <p:cNvPr id="343" name="Text 343"/>
          <p:cNvSpPr txBox="1"/>
          <p:nvPr/>
        </p:nvSpPr>
        <p:spPr>
          <a:xfrm>
            <a:off x="5705856" y="57698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편집·저장·복원 실패 → P1 중단, P0 안정화</a:t>
            </a:r>
            <a:endParaRPr lang="en-US" sz="1020" dirty="0"/>
          </a:p>
        </p:txBody>
      </p:sp>
      <p:sp>
        <p:nvSpPr>
          <p:cNvPr id="344" name="Line 344"/>
          <p:cNvSpPr/>
          <p:nvPr/>
        </p:nvSpPr>
        <p:spPr>
          <a:xfrm>
            <a:off x="8412480" y="5532120"/>
            <a:ext cx="0" cy="566928"/>
          </a:xfrm>
          <a:prstGeom prst="line">
            <a:avLst/>
          </a:prstGeom>
          <a:noFill/>
          <a:ln w="9525">
            <a:solidFill>
              <a:srgbClr val="2B4A80"/>
            </a:solidFill>
            <a:prstDash val="solid"/>
            <a:headEnd type="none"/>
            <a:tailEnd type="none"/>
          </a:ln>
        </p:spPr>
      </p:sp>
      <p:sp>
        <p:nvSpPr>
          <p:cNvPr id="345" name="Text 345"/>
          <p:cNvSpPr txBox="1"/>
          <p:nvPr/>
        </p:nvSpPr>
        <p:spPr>
          <a:xfrm>
            <a:off x="8540496" y="5504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주 후반</a:t>
            </a:r>
            <a:endParaRPr lang="en-US" sz="1100" dirty="0"/>
          </a:p>
        </p:txBody>
      </p:sp>
      <p:sp>
        <p:nvSpPr>
          <p:cNvPr id="346" name="Text 346"/>
          <p:cNvSpPr txBox="1"/>
          <p:nvPr/>
        </p:nvSpPr>
        <p:spPr>
          <a:xfrm>
            <a:off x="8540496" y="57698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오류 잔존 → 새 기능 중단, 시연 범위 고정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Web Server Team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TaskCanvas | 팀 프로젝트 발표 자료 (14장 개정판)</dc:title>
  <dc:subject>실시간 협업 화이트보드 기반 프로젝트 관리 팀 프로젝트 제안서</dc:subject>
  <dc:creator>ChatGPT</dc:creator>
  <cp:lastModifiedBy>ChatGPT</cp:lastModifiedBy>
  <cp:revision>10</cp:revision>
  <dcterms:created xsi:type="dcterms:W3CDTF">2026-10-08T02:30:42Z</dcterms:created>
  <dcterms:modified xsi:type="dcterms:W3CDTF">2026-10-10T08:33:26Z</dcterms:modified>
</cp:coreProperties>
</file>