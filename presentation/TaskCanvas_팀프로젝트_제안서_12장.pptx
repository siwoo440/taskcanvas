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TaskCanvas는 4명이 3주 동안 제작할 실시간 협업 화이트보드입니다.
,제공된 이미지는 기획 목업으로 실제 구현 완료 화면은 아닙니다.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프로젝트의 목표는 보드를 중심으로 파일과 업무 정보를 통합하는 것입니다.
,기존 서비스에 비해 새로운 알고리즘을 만드는 것이 아니라 4인 동시 편집 환경을 구현하는 점이 과제의 핵심입니다.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서비스 동작 흐름을 여섯 단계로 요약한 슬라이드입니다.
,3주 MVP에서는 기능보다 접속과 동시 편집부터 안정화합니다.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화이트보드가 프로젝트 최초 진입 화면입니다.
,화면은 PC 전용이며 왼쪽 도구 메뉴와 오른쪽 속성 패널을 사용합니다.
,화면 속 내용은 구현 목표를 설명하기 위한 이미지 목업입니다.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2차 질문에서 선택한 우선 구현 대상은 펜·도형, 동영상·외부 링크, 이미지·파일입니다.
,업무 블럭 고급 기능, 고급 표와 흐름도 자동 정렬은 이후 추가합니다.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Node.js와 Socket.IO 사용이 허용된 것으로 확인한 상태입니다.
,4명의 브라우저가 같은 LAN의 서버 PC에 연결됩니다.
,작업 진행 중 변경은 전송하고, 최종 작업 확정 시 DB에 저장합니다.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사용자가 직접 접속하는 웹페이지는 Apache+PHP가 제공하고, 별도 Node.js 서버가 실시간 편집 이벤트를 처리합니다.
,Node.js가 PHP 세션을 그대로 신뢰하지 않도록 인증 토큰이나 서버 간 검증을 구현해야 합니다.
,영구 상태는 MySQL에, 파일 바이트는 서버 저장소에 보관합니다.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총 개발자 4명입니다. 본인 역할은 기획·통합으로 임시 제안한 것이며 조정할 수 있습니다.
,나머지 3명의 역할은 프론트엔드, 실시간 서버, 백엔드·DB입니다.
,인터페이스와 데이터 구조는 역할 구분과 상관없이 공동으로 합의해야 합니다.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프론트엔드 개발자는 가장 눈에 보이는 화이트보드 UI를 구현합니다.
,오브젝트를 이동하거나 그릴 때 Socket.IO 이벤트를 보내야 하므로 실시간 서버 개발자와 협업이 중요합니다.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실시간 서버 개발자는 프로젝트의 핵심 시연 기능을 책임집니다.
,커서 및 펜 미리보기는 저장하지 않고 변경 확정 이벤트만 영구 저장합니다.
,동시에 한 객체를 수정할 때 충돌하지 않도록 객체 잠금을 적용합니다.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백엔드 개발자는 영구 데이터 구조와 사용자 권한을 구현합니다.
,원본 업무는 보드에 표시한 객체와 구분해 저장하고 보드에서 삭제해도 원본 업무는 유지합니다.
,파일 형식과 크기 제한, 세션 및 프로젝트 권한 검증을 필수로 고려합니다.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3주 개발 일정은 1주차 기반, 2주차 핵심, 3주차 통합 및 시연으로 설계했습니다.
,스프레드시트급 표 편집과 자동 흐름도 정렬은 이후 개발 과제로 분리합니다.
,최종 핵심 성공 기준은 PC 4대에서 안정적으로 동시 편집하는 것입니다.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07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11112"/>
            <a:ext cx="29260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90BB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11112"/>
            <a:ext cx="29260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90BB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taskcanvas_build/assets/cover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36576"/>
            <a:ext cx="4846320" cy="3657600"/>
          </a:xfrm>
          <a:prstGeom prst="ellipse">
            <a:avLst/>
          </a:prstGeom>
          <a:solidFill>
            <a:srgbClr val="10357F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0"/>
            <a:ext cx="3566160" cy="3840480"/>
          </a:xfrm>
          <a:prstGeom prst="ellipse">
            <a:avLst/>
          </a:prstGeom>
          <a:solidFill>
            <a:srgbClr val="362267">
              <a:alpha val="2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1381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7325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2688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92124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5156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1099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7043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543800" y="320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543800" y="1005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543800" y="16916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543800" y="23774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543800" y="30632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543800" y="3749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543800" y="4434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rot="300000">
            <a:off x="137160" y="6053328"/>
            <a:ext cx="5074920" cy="731520"/>
          </a:xfrm>
          <a:prstGeom prst="arc">
            <a:avLst/>
          </a:prstGeom>
          <a:solidFill>
            <a:srgbClr val="07102A">
              <a:alpha val="0"/>
            </a:srgbClr>
          </a:solidFill>
          <a:ln w="25400">
            <a:solidFill>
              <a:srgbClr val="1C3C95">
                <a:alpha val="7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6455664"/>
            <a:ext cx="11173968" cy="0"/>
          </a:xfrm>
          <a:prstGeom prst="line">
            <a:avLst/>
          </a:prstGeom>
          <a:noFill/>
          <a:ln w="10160">
            <a:solidFill>
              <a:srgbClr val="22345C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530352" y="292608"/>
            <a:ext cx="2432304" cy="292608"/>
          </a:xfrm>
          <a:prstGeom prst="roundRect">
            <a:avLst>
              <a:gd name="adj" fmla="val 37500"/>
            </a:avLst>
          </a:prstGeom>
          <a:solidFill>
            <a:srgbClr val="102554"/>
          </a:solidFill>
          <a:ln w="11430">
            <a:solidFill>
              <a:srgbClr val="4263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292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PROJECT  TASKCANVAS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65408" y="329184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7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1270" dirty="0"/>
          </a:p>
        </p:txBody>
      </p:sp>
      <p:sp>
        <p:nvSpPr>
          <p:cNvPr id="25" name="Text 23"/>
          <p:cNvSpPr/>
          <p:nvPr/>
        </p:nvSpPr>
        <p:spPr>
          <a:xfrm>
            <a:off x="566928" y="832104"/>
            <a:ext cx="11045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프로젝트 소개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585216" y="147218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기존 업무 관리의 불편함을 하나의 공동 작업 공간으로 해결</a:t>
            </a:r>
            <a:endParaRPr lang="en-US" sz="1360" dirty="0"/>
          </a:p>
        </p:txBody>
      </p:sp>
      <p:sp>
        <p:nvSpPr>
          <p:cNvPr id="27" name="Shape 25"/>
          <p:cNvSpPr/>
          <p:nvPr/>
        </p:nvSpPr>
        <p:spPr>
          <a:xfrm>
            <a:off x="585216" y="1851660"/>
            <a:ext cx="658368" cy="36576"/>
          </a:xfrm>
          <a:prstGeom prst="rect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6547104"/>
            <a:ext cx="6217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8292B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· 3주 · WEB SERVER TEAM PROJECT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617220" y="2253996"/>
            <a:ext cx="5632704" cy="3410712"/>
          </a:xfrm>
          <a:prstGeom prst="roundRect">
            <a:avLst>
              <a:gd name="adj" fmla="val 3753"/>
            </a:avLst>
          </a:prstGeom>
          <a:solidFill>
            <a:srgbClr val="111D44"/>
          </a:solidFill>
          <a:ln w="11430">
            <a:solidFill>
              <a:srgbClr val="4166C4"/>
            </a:solidFill>
            <a:prstDash val="solid"/>
          </a:ln>
        </p:spPr>
      </p:sp>
      <p:pic>
        <p:nvPicPr>
          <p:cNvPr id="30" name="Image 0" descr="/mnt/data/_taskcanvas_build/assets/illustration_coll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304288"/>
            <a:ext cx="5532120" cy="331012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04672" y="5806440"/>
            <a:ext cx="5321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하나의 공간에서 함께 기획하고 제작</a:t>
            </a:r>
            <a:endParaRPr lang="en-US" sz="1420" dirty="0"/>
          </a:p>
        </p:txBody>
      </p:sp>
      <p:sp>
        <p:nvSpPr>
          <p:cNvPr id="32" name="Shape 29"/>
          <p:cNvSpPr/>
          <p:nvPr/>
        </p:nvSpPr>
        <p:spPr>
          <a:xfrm>
            <a:off x="6455664" y="2093976"/>
            <a:ext cx="5084064" cy="1609344"/>
          </a:xfrm>
          <a:prstGeom prst="roundRect">
            <a:avLst>
              <a:gd name="adj" fmla="val 6818"/>
            </a:avLst>
          </a:prstGeom>
          <a:solidFill>
            <a:srgbClr val="122146"/>
          </a:solidFill>
          <a:ln w="11430">
            <a:solidFill>
              <a:srgbClr val="405DA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93408" y="2322576"/>
            <a:ext cx="4572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E49A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현재 방식의 문제</a:t>
            </a:r>
            <a:endParaRPr lang="en-US" sz="1320" dirty="0"/>
          </a:p>
        </p:txBody>
      </p:sp>
      <p:sp>
        <p:nvSpPr>
          <p:cNvPr id="34" name="Shape 31"/>
          <p:cNvSpPr/>
          <p:nvPr/>
        </p:nvSpPr>
        <p:spPr>
          <a:xfrm>
            <a:off x="6711696" y="2862072"/>
            <a:ext cx="64008" cy="64008"/>
          </a:xfrm>
          <a:prstGeom prst="ellipse">
            <a:avLst/>
          </a:prstGeom>
          <a:solidFill>
            <a:srgbClr val="E49AFA"/>
          </a:solidFill>
          <a:ln w="12700">
            <a:solidFill>
              <a:srgbClr val="E49AFA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85432" y="2715768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아이디어와 업무를 서로 다른 도구에서 관리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711696" y="3172968"/>
            <a:ext cx="64008" cy="64008"/>
          </a:xfrm>
          <a:prstGeom prst="ellipse">
            <a:avLst/>
          </a:prstGeom>
          <a:solidFill>
            <a:srgbClr val="E49AFA"/>
          </a:solidFill>
          <a:ln w="12700">
            <a:solidFill>
              <a:srgbClr val="E49AFA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85432" y="3026664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공동 편집과 피드백 과정이 단절됨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711696" y="3483864"/>
            <a:ext cx="64008" cy="64008"/>
          </a:xfrm>
          <a:prstGeom prst="ellipse">
            <a:avLst/>
          </a:prstGeom>
          <a:solidFill>
            <a:srgbClr val="E49AFA"/>
          </a:solidFill>
          <a:ln w="12700">
            <a:solidFill>
              <a:srgbClr val="E49AFA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885432" y="3337560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파일·링크·작업 흐름을 한눈에 보기 어려움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6455664" y="3877056"/>
            <a:ext cx="5084064" cy="1691640"/>
          </a:xfrm>
          <a:prstGeom prst="roundRect">
            <a:avLst>
              <a:gd name="adj" fmla="val 6486"/>
            </a:avLst>
          </a:prstGeom>
          <a:solidFill>
            <a:srgbClr val="122146"/>
          </a:solidFill>
          <a:ln w="11430">
            <a:solidFill>
              <a:srgbClr val="405DA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693408" y="4114800"/>
            <a:ext cx="4572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우리가 만들 서비스</a:t>
            </a:r>
            <a:endParaRPr lang="en-US" sz="1320" dirty="0"/>
          </a:p>
        </p:txBody>
      </p:sp>
      <p:sp>
        <p:nvSpPr>
          <p:cNvPr id="42" name="Shape 39"/>
          <p:cNvSpPr/>
          <p:nvPr/>
        </p:nvSpPr>
        <p:spPr>
          <a:xfrm>
            <a:off x="6711696" y="4636008"/>
            <a:ext cx="64008" cy="64008"/>
          </a:xfrm>
          <a:prstGeom prst="ellipse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885432" y="4489704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팀원 4명이 같은 보드에서 즉시 편집</a:t>
            </a:r>
            <a:endParaRPr lang="en-US" sz="1220" dirty="0"/>
          </a:p>
        </p:txBody>
      </p:sp>
      <p:sp>
        <p:nvSpPr>
          <p:cNvPr id="44" name="Shape 41"/>
          <p:cNvSpPr/>
          <p:nvPr/>
        </p:nvSpPr>
        <p:spPr>
          <a:xfrm>
            <a:off x="6711696" y="4965192"/>
            <a:ext cx="64008" cy="64008"/>
          </a:xfrm>
          <a:prstGeom prst="ellipse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885432" y="4818888"/>
            <a:ext cx="43616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펜·도형·이미지·영상·파일을 자유롭게 배치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6711696" y="5303520"/>
            <a:ext cx="64008" cy="64008"/>
          </a:xfrm>
          <a:prstGeom prst="ellipse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885432" y="5157216"/>
            <a:ext cx="4361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업무 정보를 연결하는 시각적 협업 환경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6464808" y="5824728"/>
            <a:ext cx="1399032" cy="301752"/>
          </a:xfrm>
          <a:prstGeom prst="roundRect">
            <a:avLst>
              <a:gd name="adj" fmla="val 36364"/>
            </a:avLst>
          </a:prstGeom>
          <a:solidFill>
            <a:srgbClr val="143564"/>
          </a:solidFill>
          <a:ln w="11430">
            <a:solidFill>
              <a:srgbClr val="276CB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537960" y="5824728"/>
            <a:ext cx="12527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동시 편집</a:t>
            </a:r>
            <a:endParaRPr lang="en-US" sz="1030" dirty="0"/>
          </a:p>
        </p:txBody>
      </p:sp>
      <p:sp>
        <p:nvSpPr>
          <p:cNvPr id="50" name="Shape 47"/>
          <p:cNvSpPr/>
          <p:nvPr/>
        </p:nvSpPr>
        <p:spPr>
          <a:xfrm>
            <a:off x="8010144" y="5824728"/>
            <a:ext cx="1572768" cy="301752"/>
          </a:xfrm>
          <a:prstGeom prst="roundRect">
            <a:avLst>
              <a:gd name="adj" fmla="val 36364"/>
            </a:avLst>
          </a:prstGeom>
          <a:solidFill>
            <a:srgbClr val="2B245E"/>
          </a:solidFill>
          <a:ln w="11430">
            <a:solidFill>
              <a:srgbClr val="6A56B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083296" y="5824728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화이트보드 중심</a:t>
            </a:r>
            <a:endParaRPr lang="en-US" sz="1030" dirty="0"/>
          </a:p>
        </p:txBody>
      </p:sp>
      <p:sp>
        <p:nvSpPr>
          <p:cNvPr id="52" name="Shape 49"/>
          <p:cNvSpPr/>
          <p:nvPr/>
        </p:nvSpPr>
        <p:spPr>
          <a:xfrm>
            <a:off x="9738360" y="5824728"/>
            <a:ext cx="1335024" cy="301752"/>
          </a:xfrm>
          <a:prstGeom prst="roundRect">
            <a:avLst>
              <a:gd name="adj" fmla="val 36364"/>
            </a:avLst>
          </a:prstGeom>
          <a:solidFill>
            <a:srgbClr val="15385D"/>
          </a:solidFill>
          <a:ln w="11430">
            <a:solidFill>
              <a:srgbClr val="2776A1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811512" y="5824728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66E3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3주 MVP</a:t>
            </a:r>
            <a:endParaRPr lang="en-US" sz="10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36576"/>
            <a:ext cx="4846320" cy="3657600"/>
          </a:xfrm>
          <a:prstGeom prst="ellipse">
            <a:avLst/>
          </a:prstGeom>
          <a:solidFill>
            <a:srgbClr val="10357F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0"/>
            <a:ext cx="3566160" cy="3840480"/>
          </a:xfrm>
          <a:prstGeom prst="ellipse">
            <a:avLst/>
          </a:prstGeom>
          <a:solidFill>
            <a:srgbClr val="362267">
              <a:alpha val="2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1381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7325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2688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92124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5156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1099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7043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543800" y="320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543800" y="1005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543800" y="16916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543800" y="23774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543800" y="30632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543800" y="3749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543800" y="4434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rot="300000">
            <a:off x="137160" y="6053328"/>
            <a:ext cx="5074920" cy="731520"/>
          </a:xfrm>
          <a:prstGeom prst="arc">
            <a:avLst/>
          </a:prstGeom>
          <a:solidFill>
            <a:srgbClr val="07102A">
              <a:alpha val="0"/>
            </a:srgbClr>
          </a:solidFill>
          <a:ln w="25400">
            <a:solidFill>
              <a:srgbClr val="1C3C95">
                <a:alpha val="7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6455664"/>
            <a:ext cx="11173968" cy="0"/>
          </a:xfrm>
          <a:prstGeom prst="line">
            <a:avLst/>
          </a:prstGeom>
          <a:noFill/>
          <a:ln w="10160">
            <a:solidFill>
              <a:srgbClr val="22345C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530352" y="292608"/>
            <a:ext cx="2432304" cy="292608"/>
          </a:xfrm>
          <a:prstGeom prst="roundRect">
            <a:avLst>
              <a:gd name="adj" fmla="val 37500"/>
            </a:avLst>
          </a:prstGeom>
          <a:solidFill>
            <a:srgbClr val="102554"/>
          </a:solidFill>
          <a:ln w="11430">
            <a:solidFill>
              <a:srgbClr val="4263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292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PROJECT  TASKCANVAS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65408" y="329184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7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1270" dirty="0"/>
          </a:p>
        </p:txBody>
      </p:sp>
      <p:sp>
        <p:nvSpPr>
          <p:cNvPr id="25" name="Text 23"/>
          <p:cNvSpPr/>
          <p:nvPr/>
        </p:nvSpPr>
        <p:spPr>
          <a:xfrm>
            <a:off x="566928" y="832104"/>
            <a:ext cx="11045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서비스 사용 흐름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585216" y="147218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프로젝트 생성 → 초대 → 공동 작업 → 자동 저장</a:t>
            </a:r>
            <a:endParaRPr lang="en-US" sz="1360" dirty="0"/>
          </a:p>
        </p:txBody>
      </p:sp>
      <p:sp>
        <p:nvSpPr>
          <p:cNvPr id="27" name="Shape 25"/>
          <p:cNvSpPr/>
          <p:nvPr/>
        </p:nvSpPr>
        <p:spPr>
          <a:xfrm>
            <a:off x="585216" y="1851660"/>
            <a:ext cx="658368" cy="36576"/>
          </a:xfrm>
          <a:prstGeom prst="rect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6547104"/>
            <a:ext cx="6217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8292B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· 3주 · WEB SERVER TEAM PROJECT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594360" y="2112264"/>
            <a:ext cx="3273552" cy="1389888"/>
          </a:xfrm>
          <a:prstGeom prst="roundRect">
            <a:avLst>
              <a:gd name="adj" fmla="val 7895"/>
            </a:avLst>
          </a:prstGeom>
          <a:solidFill>
            <a:srgbClr val="13254B"/>
          </a:solidFill>
          <a:ln w="11430">
            <a:solidFill>
              <a:srgbClr val="3768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" y="2304288"/>
            <a:ext cx="502920" cy="502920"/>
          </a:xfrm>
          <a:prstGeom prst="ellipse">
            <a:avLst/>
          </a:prstGeom>
          <a:solidFill>
            <a:srgbClr val="153D75"/>
          </a:solidFill>
          <a:ln w="15240">
            <a:solidFill>
              <a:srgbClr val="67D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" y="2386584"/>
            <a:ext cx="4480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80744" y="2295144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프로젝트 생성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2960" y="2880360"/>
            <a:ext cx="2862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프로젝트와 여러 보드를 생성</a:t>
            </a:r>
            <a:endParaRPr lang="en-US" sz="1180" dirty="0"/>
          </a:p>
        </p:txBody>
      </p:sp>
      <p:sp>
        <p:nvSpPr>
          <p:cNvPr id="34" name="Shape 32"/>
          <p:cNvSpPr/>
          <p:nvPr/>
        </p:nvSpPr>
        <p:spPr>
          <a:xfrm>
            <a:off x="4453128" y="2112264"/>
            <a:ext cx="3273552" cy="1389888"/>
          </a:xfrm>
          <a:prstGeom prst="roundRect">
            <a:avLst>
              <a:gd name="adj" fmla="val 7895"/>
            </a:avLst>
          </a:prstGeom>
          <a:solidFill>
            <a:srgbClr val="13254B"/>
          </a:solidFill>
          <a:ln w="11430">
            <a:solidFill>
              <a:srgbClr val="6454B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2304288"/>
            <a:ext cx="502920" cy="502920"/>
          </a:xfrm>
          <a:prstGeom prst="ellipse">
            <a:avLst/>
          </a:prstGeom>
          <a:solidFill>
            <a:srgbClr val="37266C"/>
          </a:solidFill>
          <a:ln w="15240">
            <a:solidFill>
              <a:srgbClr val="A98B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45152" y="2386584"/>
            <a:ext cx="4480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39512" y="2295144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팀원 초대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681728" y="2880360"/>
            <a:ext cx="2862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링크·코드·모의 이메일 초대</a:t>
            </a:r>
            <a:endParaRPr lang="en-US" sz="1180" dirty="0"/>
          </a:p>
        </p:txBody>
      </p:sp>
      <p:sp>
        <p:nvSpPr>
          <p:cNvPr id="39" name="Shape 37"/>
          <p:cNvSpPr/>
          <p:nvPr/>
        </p:nvSpPr>
        <p:spPr>
          <a:xfrm>
            <a:off x="8311896" y="2112264"/>
            <a:ext cx="3273552" cy="1389888"/>
          </a:xfrm>
          <a:prstGeom prst="roundRect">
            <a:avLst>
              <a:gd name="adj" fmla="val 7895"/>
            </a:avLst>
          </a:prstGeom>
          <a:solidFill>
            <a:srgbClr val="13254B"/>
          </a:solidFill>
          <a:ln w="11430">
            <a:solidFill>
              <a:srgbClr val="3768A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76488" y="2304288"/>
            <a:ext cx="502920" cy="502920"/>
          </a:xfrm>
          <a:prstGeom prst="ellipse">
            <a:avLst/>
          </a:prstGeom>
          <a:solidFill>
            <a:srgbClr val="153D75"/>
          </a:solidFill>
          <a:ln w="15240">
            <a:solidFill>
              <a:srgbClr val="67DD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0" y="2386584"/>
            <a:ext cx="4480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098280" y="2295144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보드 입장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540496" y="2880360"/>
            <a:ext cx="2862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4명이 같은 LAN에서 접속</a:t>
            </a:r>
            <a:endParaRPr lang="en-US" sz="1180" dirty="0"/>
          </a:p>
        </p:txBody>
      </p:sp>
      <p:sp>
        <p:nvSpPr>
          <p:cNvPr id="44" name="Shape 42"/>
          <p:cNvSpPr/>
          <p:nvPr/>
        </p:nvSpPr>
        <p:spPr>
          <a:xfrm>
            <a:off x="594360" y="3913632"/>
            <a:ext cx="3273552" cy="1389888"/>
          </a:xfrm>
          <a:prstGeom prst="roundRect">
            <a:avLst>
              <a:gd name="adj" fmla="val 7895"/>
            </a:avLst>
          </a:prstGeom>
          <a:solidFill>
            <a:srgbClr val="13254B"/>
          </a:solidFill>
          <a:ln w="11430">
            <a:solidFill>
              <a:srgbClr val="6454B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58952" y="4105656"/>
            <a:ext cx="502920" cy="502920"/>
          </a:xfrm>
          <a:prstGeom prst="ellipse">
            <a:avLst/>
          </a:prstGeom>
          <a:solidFill>
            <a:srgbClr val="37266C"/>
          </a:solidFill>
          <a:ln w="15240">
            <a:solidFill>
              <a:srgbClr val="A98B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6384" y="4187952"/>
            <a:ext cx="4480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380744" y="409651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객체 편집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22960" y="4681728"/>
            <a:ext cx="2862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펜·도형·이미지·영상·파일 배치</a:t>
            </a:r>
            <a:endParaRPr lang="en-US" sz="1180" dirty="0"/>
          </a:p>
        </p:txBody>
      </p:sp>
      <p:sp>
        <p:nvSpPr>
          <p:cNvPr id="49" name="Shape 47"/>
          <p:cNvSpPr/>
          <p:nvPr/>
        </p:nvSpPr>
        <p:spPr>
          <a:xfrm>
            <a:off x="4453128" y="3913632"/>
            <a:ext cx="3273552" cy="1389888"/>
          </a:xfrm>
          <a:prstGeom prst="roundRect">
            <a:avLst>
              <a:gd name="adj" fmla="val 7895"/>
            </a:avLst>
          </a:prstGeom>
          <a:solidFill>
            <a:srgbClr val="13254B"/>
          </a:solidFill>
          <a:ln w="11430">
            <a:solidFill>
              <a:srgbClr val="3768A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17720" y="4105656"/>
            <a:ext cx="502920" cy="502920"/>
          </a:xfrm>
          <a:prstGeom prst="ellipse">
            <a:avLst/>
          </a:prstGeom>
          <a:solidFill>
            <a:srgbClr val="153D75"/>
          </a:solidFill>
          <a:ln w="15240">
            <a:solidFill>
              <a:srgbClr val="67DD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45152" y="4187952"/>
            <a:ext cx="4480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239512" y="409651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실시간 협업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681728" y="4681728"/>
            <a:ext cx="2862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 커서·객체 잠금·즉시 공유</a:t>
            </a:r>
            <a:endParaRPr lang="en-US" sz="1180" dirty="0"/>
          </a:p>
        </p:txBody>
      </p:sp>
      <p:sp>
        <p:nvSpPr>
          <p:cNvPr id="54" name="Shape 52"/>
          <p:cNvSpPr/>
          <p:nvPr/>
        </p:nvSpPr>
        <p:spPr>
          <a:xfrm>
            <a:off x="8311896" y="3913632"/>
            <a:ext cx="3273552" cy="1389888"/>
          </a:xfrm>
          <a:prstGeom prst="roundRect">
            <a:avLst>
              <a:gd name="adj" fmla="val 7895"/>
            </a:avLst>
          </a:prstGeom>
          <a:solidFill>
            <a:srgbClr val="13254B"/>
          </a:solidFill>
          <a:ln w="11430">
            <a:solidFill>
              <a:srgbClr val="6454B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476488" y="4105656"/>
            <a:ext cx="502920" cy="502920"/>
          </a:xfrm>
          <a:prstGeom prst="ellipse">
            <a:avLst/>
          </a:prstGeom>
          <a:solidFill>
            <a:srgbClr val="37266C"/>
          </a:solidFill>
          <a:ln w="15240">
            <a:solidFill>
              <a:srgbClr val="A98B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03920" y="4187952"/>
            <a:ext cx="4480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06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9098280" y="409651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자동 저장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540496" y="4681728"/>
            <a:ext cx="2862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작업 확정 시 저장·재접속 복원</a:t>
            </a:r>
            <a:endParaRPr lang="en-US" sz="1180" dirty="0"/>
          </a:p>
        </p:txBody>
      </p:sp>
      <p:sp>
        <p:nvSpPr>
          <p:cNvPr id="59" name="Text 57"/>
          <p:cNvSpPr/>
          <p:nvPr/>
        </p:nvSpPr>
        <p:spPr>
          <a:xfrm>
            <a:off x="4050792" y="2514600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›</a:t>
            </a:r>
            <a:endParaRPr lang="en-US" sz="2400" dirty="0"/>
          </a:p>
        </p:txBody>
      </p:sp>
      <p:sp>
        <p:nvSpPr>
          <p:cNvPr id="60" name="Text 58"/>
          <p:cNvSpPr/>
          <p:nvPr/>
        </p:nvSpPr>
        <p:spPr>
          <a:xfrm>
            <a:off x="7900416" y="2514600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›</a:t>
            </a:r>
            <a:endParaRPr lang="en-US" sz="2400" dirty="0"/>
          </a:p>
        </p:txBody>
      </p:sp>
      <p:sp>
        <p:nvSpPr>
          <p:cNvPr id="61" name="Text 59"/>
          <p:cNvSpPr/>
          <p:nvPr/>
        </p:nvSpPr>
        <p:spPr>
          <a:xfrm>
            <a:off x="4050792" y="4334256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›</a:t>
            </a:r>
            <a:endParaRPr lang="en-US" sz="2400" dirty="0"/>
          </a:p>
        </p:txBody>
      </p:sp>
      <p:sp>
        <p:nvSpPr>
          <p:cNvPr id="62" name="Text 60"/>
          <p:cNvSpPr/>
          <p:nvPr/>
        </p:nvSpPr>
        <p:spPr>
          <a:xfrm>
            <a:off x="7900416" y="4334256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›</a:t>
            </a:r>
            <a:endParaRPr lang="en-US" sz="2400" dirty="0"/>
          </a:p>
        </p:txBody>
      </p:sp>
      <p:sp>
        <p:nvSpPr>
          <p:cNvPr id="63" name="Shape 61"/>
          <p:cNvSpPr/>
          <p:nvPr/>
        </p:nvSpPr>
        <p:spPr>
          <a:xfrm>
            <a:off x="621792" y="5742432"/>
            <a:ext cx="10945368" cy="493776"/>
          </a:xfrm>
          <a:prstGeom prst="roundRect">
            <a:avLst>
              <a:gd name="adj" fmla="val 22222"/>
            </a:avLst>
          </a:prstGeom>
          <a:solidFill>
            <a:srgbClr val="0D1E43"/>
          </a:solidFill>
          <a:ln w="11430">
            <a:solidFill>
              <a:srgbClr val="34548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13816" y="5861304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시연 포인트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2514600" y="5852160"/>
            <a:ext cx="8732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동시 편집   /   그리는 중 즉시 반영   /   작업 완료 후 데이터 복원</a:t>
            </a:r>
            <a:endParaRPr lang="en-US" sz="12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36576"/>
            <a:ext cx="4846320" cy="3657600"/>
          </a:xfrm>
          <a:prstGeom prst="ellipse">
            <a:avLst/>
          </a:prstGeom>
          <a:solidFill>
            <a:srgbClr val="10357F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0"/>
            <a:ext cx="3566160" cy="3840480"/>
          </a:xfrm>
          <a:prstGeom prst="ellipse">
            <a:avLst/>
          </a:prstGeom>
          <a:solidFill>
            <a:srgbClr val="362267">
              <a:alpha val="2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1381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7325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2688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92124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5156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1099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7043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543800" y="320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543800" y="1005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543800" y="16916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543800" y="23774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543800" y="30632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543800" y="3749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543800" y="4434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rot="300000">
            <a:off x="137160" y="6053328"/>
            <a:ext cx="5074920" cy="731520"/>
          </a:xfrm>
          <a:prstGeom prst="arc">
            <a:avLst/>
          </a:prstGeom>
          <a:solidFill>
            <a:srgbClr val="07102A">
              <a:alpha val="0"/>
            </a:srgbClr>
          </a:solidFill>
          <a:ln w="25400">
            <a:solidFill>
              <a:srgbClr val="1C3C95">
                <a:alpha val="7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6455664"/>
            <a:ext cx="11173968" cy="0"/>
          </a:xfrm>
          <a:prstGeom prst="line">
            <a:avLst/>
          </a:prstGeom>
          <a:noFill/>
          <a:ln w="10160">
            <a:solidFill>
              <a:srgbClr val="22345C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530352" y="292608"/>
            <a:ext cx="2432304" cy="292608"/>
          </a:xfrm>
          <a:prstGeom prst="roundRect">
            <a:avLst>
              <a:gd name="adj" fmla="val 37500"/>
            </a:avLst>
          </a:prstGeom>
          <a:solidFill>
            <a:srgbClr val="102554"/>
          </a:solidFill>
          <a:ln w="11430">
            <a:solidFill>
              <a:srgbClr val="4263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292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PROJECT  TASKCANVAS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65408" y="329184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7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1270" dirty="0"/>
          </a:p>
        </p:txBody>
      </p:sp>
      <p:sp>
        <p:nvSpPr>
          <p:cNvPr id="25" name="Text 23"/>
          <p:cNvSpPr/>
          <p:nvPr/>
        </p:nvSpPr>
        <p:spPr>
          <a:xfrm>
            <a:off x="566928" y="832104"/>
            <a:ext cx="11045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화이트보드 화면 구성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585216" y="147218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왼쪽 툴바 · 중앙 캔버스 · 오른쪽 속성 패널</a:t>
            </a:r>
            <a:endParaRPr lang="en-US" sz="1360" dirty="0"/>
          </a:p>
        </p:txBody>
      </p:sp>
      <p:sp>
        <p:nvSpPr>
          <p:cNvPr id="27" name="Shape 25"/>
          <p:cNvSpPr/>
          <p:nvPr/>
        </p:nvSpPr>
        <p:spPr>
          <a:xfrm>
            <a:off x="585216" y="1851660"/>
            <a:ext cx="658368" cy="36576"/>
          </a:xfrm>
          <a:prstGeom prst="rect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6547104"/>
            <a:ext cx="6217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8292B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· 3주 · WEB SERVER TEAM PROJECT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548640" y="2039112"/>
            <a:ext cx="8641080" cy="4187952"/>
          </a:xfrm>
          <a:prstGeom prst="roundRect">
            <a:avLst>
              <a:gd name="adj" fmla="val 2620"/>
            </a:avLst>
          </a:prstGeom>
          <a:solidFill>
            <a:srgbClr val="0D1837"/>
          </a:solidFill>
          <a:ln w="11430">
            <a:solidFill>
              <a:srgbClr val="4162C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" y="2103120"/>
            <a:ext cx="8531352" cy="365760"/>
          </a:xfrm>
          <a:prstGeom prst="rect">
            <a:avLst/>
          </a:prstGeom>
          <a:solidFill>
            <a:srgbClr val="101A3E"/>
          </a:solidFill>
          <a:ln w="1270">
            <a:solidFill>
              <a:srgbClr val="1F38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" y="2167128"/>
            <a:ext cx="3291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TaskCanvas / 기획 보드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56248" y="2231136"/>
            <a:ext cx="91440" cy="91440"/>
          </a:xfrm>
          <a:prstGeom prst="ellipse">
            <a:avLst/>
          </a:prstGeom>
          <a:solidFill>
            <a:srgbClr val="66E3CC"/>
          </a:solidFill>
          <a:ln w="12700">
            <a:solidFill>
              <a:srgbClr val="66E3CC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2157984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4명 온라인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7918704" y="2157984"/>
            <a:ext cx="969264" cy="219456"/>
          </a:xfrm>
          <a:prstGeom prst="roundRect">
            <a:avLst>
              <a:gd name="adj" fmla="val 50000"/>
            </a:avLst>
          </a:prstGeom>
          <a:solidFill>
            <a:srgbClr val="10344B"/>
          </a:solidFill>
          <a:ln w="11430">
            <a:solidFill>
              <a:srgbClr val="2479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91856" y="215798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E3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저장됨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2648" y="2487168"/>
            <a:ext cx="402336" cy="3657600"/>
          </a:xfrm>
          <a:prstGeom prst="rect">
            <a:avLst/>
          </a:prstGeom>
          <a:solidFill>
            <a:srgbClr val="111F43"/>
          </a:solidFill>
          <a:ln w="5080">
            <a:solidFill>
              <a:srgbClr val="1F38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2715768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↖</a:t>
            </a:r>
            <a:endParaRPr lang="en-US" sz="1620" dirty="0"/>
          </a:p>
        </p:txBody>
      </p:sp>
      <p:sp>
        <p:nvSpPr>
          <p:cNvPr id="38" name="Text 36"/>
          <p:cNvSpPr/>
          <p:nvPr/>
        </p:nvSpPr>
        <p:spPr>
          <a:xfrm>
            <a:off x="713232" y="3154680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✎</a:t>
            </a:r>
            <a:endParaRPr lang="en-US" sz="1620" dirty="0"/>
          </a:p>
        </p:txBody>
      </p:sp>
      <p:sp>
        <p:nvSpPr>
          <p:cNvPr id="39" name="Text 37"/>
          <p:cNvSpPr/>
          <p:nvPr/>
        </p:nvSpPr>
        <p:spPr>
          <a:xfrm>
            <a:off x="713232" y="3593592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□</a:t>
            </a:r>
            <a:endParaRPr lang="en-US" sz="1620" dirty="0"/>
          </a:p>
        </p:txBody>
      </p:sp>
      <p:sp>
        <p:nvSpPr>
          <p:cNvPr id="40" name="Text 38"/>
          <p:cNvSpPr/>
          <p:nvPr/>
        </p:nvSpPr>
        <p:spPr>
          <a:xfrm>
            <a:off x="713232" y="4032504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</a:t>
            </a:r>
            <a:endParaRPr lang="en-US" sz="1620" dirty="0"/>
          </a:p>
        </p:txBody>
      </p:sp>
      <p:sp>
        <p:nvSpPr>
          <p:cNvPr id="41" name="Text 39"/>
          <p:cNvSpPr/>
          <p:nvPr/>
        </p:nvSpPr>
        <p:spPr>
          <a:xfrm>
            <a:off x="713232" y="4471416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▧</a:t>
            </a:r>
            <a:endParaRPr lang="en-US" sz="1620" dirty="0"/>
          </a:p>
        </p:txBody>
      </p:sp>
      <p:sp>
        <p:nvSpPr>
          <p:cNvPr id="42" name="Text 40"/>
          <p:cNvSpPr/>
          <p:nvPr/>
        </p:nvSpPr>
        <p:spPr>
          <a:xfrm>
            <a:off x="713232" y="4910328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↗</a:t>
            </a:r>
            <a:endParaRPr lang="en-US" sz="1620" dirty="0"/>
          </a:p>
        </p:txBody>
      </p:sp>
      <p:sp>
        <p:nvSpPr>
          <p:cNvPr id="43" name="Text 41"/>
          <p:cNvSpPr/>
          <p:nvPr/>
        </p:nvSpPr>
        <p:spPr>
          <a:xfrm>
            <a:off x="713232" y="5349240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⋯</a:t>
            </a:r>
            <a:endParaRPr lang="en-US" sz="1620" dirty="0"/>
          </a:p>
        </p:txBody>
      </p:sp>
      <p:pic>
        <p:nvPicPr>
          <p:cNvPr id="44" name="Image 0" descr="/mnt/data/_taskcanvas_build/assets/whiteboard_canv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505456"/>
            <a:ext cx="6876288" cy="3621024"/>
          </a:xfrm>
          <a:prstGeom prst="rect">
            <a:avLst/>
          </a:prstGeom>
        </p:spPr>
      </p:pic>
      <p:sp>
        <p:nvSpPr>
          <p:cNvPr id="45" name="Shape 42"/>
          <p:cNvSpPr/>
          <p:nvPr/>
        </p:nvSpPr>
        <p:spPr>
          <a:xfrm>
            <a:off x="7918704" y="2505456"/>
            <a:ext cx="1197864" cy="3611880"/>
          </a:xfrm>
          <a:prstGeom prst="rect">
            <a:avLst/>
          </a:prstGeom>
          <a:solidFill>
            <a:srgbClr val="172142"/>
          </a:solidFill>
          <a:ln w="6350">
            <a:solidFill>
              <a:srgbClr val="203D7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083296" y="2633472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속성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8055864" y="2990088"/>
            <a:ext cx="932688" cy="0"/>
          </a:xfrm>
          <a:prstGeom prst="line">
            <a:avLst/>
          </a:prstGeom>
          <a:noFill/>
          <a:ln w="10160">
            <a:solidFill>
              <a:srgbClr val="375086"/>
            </a:solidFill>
            <a:prstDash val="solid"/>
            <a:headEnd type="none"/>
            <a:tailEnd type="none"/>
          </a:ln>
        </p:spPr>
      </p:sp>
      <p:sp>
        <p:nvSpPr>
          <p:cNvPr id="48" name="Text 45"/>
          <p:cNvSpPr/>
          <p:nvPr/>
        </p:nvSpPr>
        <p:spPr>
          <a:xfrm>
            <a:off x="8065008" y="3191256"/>
            <a:ext cx="9784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유형: 메모</a:t>
            </a:r>
            <a:endParaRPr lang="en-US" sz="910" dirty="0"/>
          </a:p>
        </p:txBody>
      </p:sp>
      <p:sp>
        <p:nvSpPr>
          <p:cNvPr id="49" name="Text 46"/>
          <p:cNvSpPr/>
          <p:nvPr/>
        </p:nvSpPr>
        <p:spPr>
          <a:xfrm>
            <a:off x="8065008" y="3639312"/>
            <a:ext cx="9784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제목</a:t>
            </a:r>
            <a:endParaRPr lang="en-US" sz="910" dirty="0"/>
          </a:p>
        </p:txBody>
      </p:sp>
      <p:sp>
        <p:nvSpPr>
          <p:cNvPr id="50" name="Shape 47"/>
          <p:cNvSpPr/>
          <p:nvPr/>
        </p:nvSpPr>
        <p:spPr>
          <a:xfrm>
            <a:off x="8065008" y="3831336"/>
            <a:ext cx="969264" cy="201168"/>
          </a:xfrm>
          <a:prstGeom prst="roundRect">
            <a:avLst>
              <a:gd name="adj" fmla="val 31818"/>
            </a:avLst>
          </a:prstGeom>
          <a:solidFill>
            <a:srgbClr val="1B3057"/>
          </a:solidFill>
          <a:ln w="11430">
            <a:solidFill>
              <a:srgbClr val="385488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065008" y="4087368"/>
            <a:ext cx="9784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색상</a:t>
            </a:r>
            <a:endParaRPr lang="en-US" sz="910" dirty="0"/>
          </a:p>
        </p:txBody>
      </p:sp>
      <p:sp>
        <p:nvSpPr>
          <p:cNvPr id="52" name="Shape 49"/>
          <p:cNvSpPr/>
          <p:nvPr/>
        </p:nvSpPr>
        <p:spPr>
          <a:xfrm>
            <a:off x="8065008" y="4279392"/>
            <a:ext cx="969264" cy="201168"/>
          </a:xfrm>
          <a:prstGeom prst="roundRect">
            <a:avLst>
              <a:gd name="adj" fmla="val 31818"/>
            </a:avLst>
          </a:prstGeom>
          <a:solidFill>
            <a:srgbClr val="1B3057"/>
          </a:solidFill>
          <a:ln w="11430">
            <a:solidFill>
              <a:srgbClr val="385488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065008" y="4535424"/>
            <a:ext cx="9784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담당자</a:t>
            </a:r>
            <a:endParaRPr lang="en-US" sz="910" dirty="0"/>
          </a:p>
        </p:txBody>
      </p:sp>
      <p:sp>
        <p:nvSpPr>
          <p:cNvPr id="54" name="Shape 51"/>
          <p:cNvSpPr/>
          <p:nvPr/>
        </p:nvSpPr>
        <p:spPr>
          <a:xfrm>
            <a:off x="8065008" y="4727448"/>
            <a:ext cx="969264" cy="201168"/>
          </a:xfrm>
          <a:prstGeom prst="roundRect">
            <a:avLst>
              <a:gd name="adj" fmla="val 31818"/>
            </a:avLst>
          </a:prstGeom>
          <a:solidFill>
            <a:srgbClr val="1B3057"/>
          </a:solidFill>
          <a:ln w="11430">
            <a:solidFill>
              <a:srgbClr val="385488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065008" y="4983480"/>
            <a:ext cx="9784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상태</a:t>
            </a:r>
            <a:endParaRPr lang="en-US" sz="910" dirty="0"/>
          </a:p>
        </p:txBody>
      </p:sp>
      <p:sp>
        <p:nvSpPr>
          <p:cNvPr id="56" name="Shape 53"/>
          <p:cNvSpPr/>
          <p:nvPr/>
        </p:nvSpPr>
        <p:spPr>
          <a:xfrm>
            <a:off x="8065008" y="5175504"/>
            <a:ext cx="969264" cy="201168"/>
          </a:xfrm>
          <a:prstGeom prst="roundRect">
            <a:avLst>
              <a:gd name="adj" fmla="val 31818"/>
            </a:avLst>
          </a:prstGeom>
          <a:solidFill>
            <a:srgbClr val="1B3057"/>
          </a:solidFill>
          <a:ln w="11430">
            <a:solidFill>
              <a:srgbClr val="385488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065008" y="5431536"/>
            <a:ext cx="9784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링크</a:t>
            </a:r>
            <a:endParaRPr lang="en-US" sz="910" dirty="0"/>
          </a:p>
        </p:txBody>
      </p:sp>
      <p:sp>
        <p:nvSpPr>
          <p:cNvPr id="58" name="Shape 55"/>
          <p:cNvSpPr/>
          <p:nvPr/>
        </p:nvSpPr>
        <p:spPr>
          <a:xfrm>
            <a:off x="8065008" y="5623560"/>
            <a:ext cx="969264" cy="201168"/>
          </a:xfrm>
          <a:prstGeom prst="roundRect">
            <a:avLst>
              <a:gd name="adj" fmla="val 31818"/>
            </a:avLst>
          </a:prstGeom>
          <a:solidFill>
            <a:srgbClr val="1B3057"/>
          </a:solidFill>
          <a:ln w="11430">
            <a:solidFill>
              <a:srgbClr val="385488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9427464" y="2121408"/>
            <a:ext cx="2212848" cy="832104"/>
          </a:xfrm>
          <a:prstGeom prst="roundRect">
            <a:avLst>
              <a:gd name="adj" fmla="val 13187"/>
            </a:avLst>
          </a:prstGeom>
          <a:solidFill>
            <a:srgbClr val="152347"/>
          </a:solidFill>
          <a:ln w="11430">
            <a:solidFill>
              <a:srgbClr val="335C9B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9637776" y="224942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툴바</a:t>
            </a:r>
            <a:endParaRPr lang="en-US" sz="1320" dirty="0"/>
          </a:p>
        </p:txBody>
      </p:sp>
      <p:sp>
        <p:nvSpPr>
          <p:cNvPr id="61" name="Text 58"/>
          <p:cNvSpPr/>
          <p:nvPr/>
        </p:nvSpPr>
        <p:spPr>
          <a:xfrm>
            <a:off x="9637776" y="2569464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선택·펜·도형·파일</a:t>
            </a:r>
            <a:endParaRPr lang="en-US" sz="1020" dirty="0"/>
          </a:p>
        </p:txBody>
      </p:sp>
      <p:sp>
        <p:nvSpPr>
          <p:cNvPr id="62" name="Shape 59"/>
          <p:cNvSpPr/>
          <p:nvPr/>
        </p:nvSpPr>
        <p:spPr>
          <a:xfrm>
            <a:off x="9427464" y="3154680"/>
            <a:ext cx="2212848" cy="832104"/>
          </a:xfrm>
          <a:prstGeom prst="roundRect">
            <a:avLst>
              <a:gd name="adj" fmla="val 13187"/>
            </a:avLst>
          </a:prstGeom>
          <a:solidFill>
            <a:srgbClr val="152347"/>
          </a:solidFill>
          <a:ln w="11430">
            <a:solidFill>
              <a:srgbClr val="335C9B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9637776" y="328269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캔버스</a:t>
            </a:r>
            <a:endParaRPr lang="en-US" sz="1320" dirty="0"/>
          </a:p>
        </p:txBody>
      </p:sp>
      <p:sp>
        <p:nvSpPr>
          <p:cNvPr id="64" name="Text 61"/>
          <p:cNvSpPr/>
          <p:nvPr/>
        </p:nvSpPr>
        <p:spPr>
          <a:xfrm>
            <a:off x="9637776" y="3602736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메모·이미지·영상 배치</a:t>
            </a:r>
            <a:endParaRPr lang="en-US" sz="1020" dirty="0"/>
          </a:p>
        </p:txBody>
      </p:sp>
      <p:sp>
        <p:nvSpPr>
          <p:cNvPr id="65" name="Shape 62"/>
          <p:cNvSpPr/>
          <p:nvPr/>
        </p:nvSpPr>
        <p:spPr>
          <a:xfrm>
            <a:off x="9427464" y="4187952"/>
            <a:ext cx="2212848" cy="832104"/>
          </a:xfrm>
          <a:prstGeom prst="roundRect">
            <a:avLst>
              <a:gd name="adj" fmla="val 13187"/>
            </a:avLst>
          </a:prstGeom>
          <a:solidFill>
            <a:srgbClr val="152347"/>
          </a:solidFill>
          <a:ln w="11430">
            <a:solidFill>
              <a:srgbClr val="335C9B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9637776" y="431596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속성 패널</a:t>
            </a:r>
            <a:endParaRPr lang="en-US" sz="1320" dirty="0"/>
          </a:p>
        </p:txBody>
      </p:sp>
      <p:sp>
        <p:nvSpPr>
          <p:cNvPr id="67" name="Text 64"/>
          <p:cNvSpPr/>
          <p:nvPr/>
        </p:nvSpPr>
        <p:spPr>
          <a:xfrm>
            <a:off x="9637776" y="4636008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색상·텍스트·상태 편집</a:t>
            </a:r>
            <a:endParaRPr lang="en-US" sz="1020" dirty="0"/>
          </a:p>
        </p:txBody>
      </p:sp>
      <p:sp>
        <p:nvSpPr>
          <p:cNvPr id="68" name="Shape 65"/>
          <p:cNvSpPr/>
          <p:nvPr/>
        </p:nvSpPr>
        <p:spPr>
          <a:xfrm>
            <a:off x="9427464" y="5221224"/>
            <a:ext cx="2212848" cy="832104"/>
          </a:xfrm>
          <a:prstGeom prst="roundRect">
            <a:avLst>
              <a:gd name="adj" fmla="val 13187"/>
            </a:avLst>
          </a:prstGeom>
          <a:solidFill>
            <a:srgbClr val="152347"/>
          </a:solidFill>
          <a:ln w="11430">
            <a:solidFill>
              <a:srgbClr val="335C9B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9637776" y="534924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동시 편집</a:t>
            </a:r>
            <a:endParaRPr lang="en-US" sz="1320" dirty="0"/>
          </a:p>
        </p:txBody>
      </p:sp>
      <p:sp>
        <p:nvSpPr>
          <p:cNvPr id="70" name="Text 67"/>
          <p:cNvSpPr/>
          <p:nvPr/>
        </p:nvSpPr>
        <p:spPr>
          <a:xfrm>
            <a:off x="9637776" y="5669280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 커서 및 잠금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36576"/>
            <a:ext cx="4846320" cy="3657600"/>
          </a:xfrm>
          <a:prstGeom prst="ellipse">
            <a:avLst/>
          </a:prstGeom>
          <a:solidFill>
            <a:srgbClr val="10357F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0"/>
            <a:ext cx="3566160" cy="3840480"/>
          </a:xfrm>
          <a:prstGeom prst="ellipse">
            <a:avLst/>
          </a:prstGeom>
          <a:solidFill>
            <a:srgbClr val="362267">
              <a:alpha val="2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1381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7325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2688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92124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5156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1099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7043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543800" y="320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543800" y="1005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543800" y="16916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543800" y="23774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543800" y="30632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543800" y="3749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543800" y="4434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rot="300000">
            <a:off x="137160" y="6053328"/>
            <a:ext cx="5074920" cy="731520"/>
          </a:xfrm>
          <a:prstGeom prst="arc">
            <a:avLst/>
          </a:prstGeom>
          <a:solidFill>
            <a:srgbClr val="07102A">
              <a:alpha val="0"/>
            </a:srgbClr>
          </a:solidFill>
          <a:ln w="25400">
            <a:solidFill>
              <a:srgbClr val="1C3C95">
                <a:alpha val="7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6455664"/>
            <a:ext cx="11173968" cy="0"/>
          </a:xfrm>
          <a:prstGeom prst="line">
            <a:avLst/>
          </a:prstGeom>
          <a:noFill/>
          <a:ln w="10160">
            <a:solidFill>
              <a:srgbClr val="22345C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530352" y="292608"/>
            <a:ext cx="2432304" cy="292608"/>
          </a:xfrm>
          <a:prstGeom prst="roundRect">
            <a:avLst>
              <a:gd name="adj" fmla="val 37500"/>
            </a:avLst>
          </a:prstGeom>
          <a:solidFill>
            <a:srgbClr val="102554"/>
          </a:solidFill>
          <a:ln w="11430">
            <a:solidFill>
              <a:srgbClr val="4263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292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PROJECT  TASKCANVAS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65408" y="329184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7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</a:t>
            </a:r>
            <a:endParaRPr lang="en-US" sz="1270" dirty="0"/>
          </a:p>
        </p:txBody>
      </p:sp>
      <p:sp>
        <p:nvSpPr>
          <p:cNvPr id="25" name="Text 23"/>
          <p:cNvSpPr/>
          <p:nvPr/>
        </p:nvSpPr>
        <p:spPr>
          <a:xfrm>
            <a:off x="566928" y="832104"/>
            <a:ext cx="11045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기능과 우선순위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585216" y="147218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실시간 협업을 중심으로 핵심 객체 3종부터 완성</a:t>
            </a:r>
            <a:endParaRPr lang="en-US" sz="1360" dirty="0"/>
          </a:p>
        </p:txBody>
      </p:sp>
      <p:sp>
        <p:nvSpPr>
          <p:cNvPr id="27" name="Shape 25"/>
          <p:cNvSpPr/>
          <p:nvPr/>
        </p:nvSpPr>
        <p:spPr>
          <a:xfrm>
            <a:off x="585216" y="1851660"/>
            <a:ext cx="658368" cy="36576"/>
          </a:xfrm>
          <a:prstGeom prst="rect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6547104"/>
            <a:ext cx="6217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8292B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· 3주 · WEB SERVER TEAM PROJECT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585216" y="2075688"/>
            <a:ext cx="3456432" cy="2907792"/>
          </a:xfrm>
          <a:prstGeom prst="roundRect">
            <a:avLst>
              <a:gd name="adj" fmla="val 3774"/>
            </a:avLst>
          </a:prstGeom>
          <a:solidFill>
            <a:srgbClr val="132449"/>
          </a:solidFill>
          <a:ln w="11430">
            <a:solidFill>
              <a:srgbClr val="3C60A3"/>
            </a:solidFill>
            <a:prstDash val="solid"/>
          </a:ln>
        </p:spPr>
      </p:sp>
      <p:pic>
        <p:nvPicPr>
          <p:cNvPr id="30" name="Image 0" descr="/mnt/data/_taskcanvas_build/assets/icon_dra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1078992" cy="1124712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2029968" y="2441448"/>
            <a:ext cx="17739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펜 · 도형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877824" y="3566160"/>
            <a:ext cx="2834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실시간 자유 필기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사각형·원·화살표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선택·이동·삭제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877824" y="4590288"/>
            <a:ext cx="1627632" cy="256032"/>
          </a:xfrm>
          <a:prstGeom prst="roundRect">
            <a:avLst>
              <a:gd name="adj" fmla="val 42857"/>
            </a:avLst>
          </a:prstGeom>
          <a:solidFill>
            <a:srgbClr val="132E62"/>
          </a:solidFill>
          <a:ln w="11430">
            <a:solidFill>
              <a:srgbClr val="4267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50976" y="459028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P0 · 우선 개발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361688" y="2075688"/>
            <a:ext cx="3456432" cy="2907792"/>
          </a:xfrm>
          <a:prstGeom prst="roundRect">
            <a:avLst>
              <a:gd name="adj" fmla="val 3774"/>
            </a:avLst>
          </a:prstGeom>
          <a:solidFill>
            <a:srgbClr val="132449"/>
          </a:solidFill>
          <a:ln w="11430">
            <a:solidFill>
              <a:srgbClr val="3C60A3"/>
            </a:solidFill>
            <a:prstDash val="solid"/>
          </a:ln>
        </p:spPr>
      </p:sp>
      <p:pic>
        <p:nvPicPr>
          <p:cNvPr id="36" name="Image 1" descr="/mnt/data/_taskcanvas_build/assets/icon_vide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331720"/>
            <a:ext cx="1078992" cy="1124712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5806440" y="2441448"/>
            <a:ext cx="17739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동영상 · 링크</a:t>
            </a:r>
            <a:endParaRPr lang="en-US" sz="1800" dirty="0"/>
          </a:p>
        </p:txBody>
      </p:sp>
      <p:sp>
        <p:nvSpPr>
          <p:cNvPr id="38" name="Text 34"/>
          <p:cNvSpPr/>
          <p:nvPr/>
        </p:nvSpPr>
        <p:spPr>
          <a:xfrm>
            <a:off x="4654296" y="3566160"/>
            <a:ext cx="2834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외부 URL 임베드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보드 내 재생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관련 자료 연결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4654296" y="4590288"/>
            <a:ext cx="1627632" cy="256032"/>
          </a:xfrm>
          <a:prstGeom prst="roundRect">
            <a:avLst>
              <a:gd name="adj" fmla="val 42857"/>
            </a:avLst>
          </a:prstGeom>
          <a:solidFill>
            <a:srgbClr val="132E62"/>
          </a:solidFill>
          <a:ln w="11430">
            <a:solidFill>
              <a:srgbClr val="4267C7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727448" y="459028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P0 · 우선 개발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8138160" y="2075688"/>
            <a:ext cx="3456432" cy="2907792"/>
          </a:xfrm>
          <a:prstGeom prst="roundRect">
            <a:avLst>
              <a:gd name="adj" fmla="val 3774"/>
            </a:avLst>
          </a:prstGeom>
          <a:solidFill>
            <a:srgbClr val="132449"/>
          </a:solidFill>
          <a:ln w="11430">
            <a:solidFill>
              <a:srgbClr val="3C60A3"/>
            </a:solidFill>
            <a:prstDash val="solid"/>
          </a:ln>
        </p:spPr>
      </p:sp>
      <p:pic>
        <p:nvPicPr>
          <p:cNvPr id="42" name="Image 2" descr="/mnt/data/_taskcanvas_build/assets/icon_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2331720"/>
            <a:ext cx="1078992" cy="1124712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9582912" y="2441448"/>
            <a:ext cx="17739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9A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이미지 · 파일</a:t>
            </a:r>
            <a:endParaRPr lang="en-US" sz="1800" dirty="0"/>
          </a:p>
        </p:txBody>
      </p:sp>
      <p:sp>
        <p:nvSpPr>
          <p:cNvPr id="44" name="Text 39"/>
          <p:cNvSpPr/>
          <p:nvPr/>
        </p:nvSpPr>
        <p:spPr>
          <a:xfrm>
            <a:off x="8430768" y="3566160"/>
            <a:ext cx="2834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업로드 버튼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드래그 앤 드롭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이미지 붙여넣기</a:t>
            </a:r>
            <a:endParaRPr lang="en-US" sz="1300" dirty="0"/>
          </a:p>
        </p:txBody>
      </p:sp>
      <p:sp>
        <p:nvSpPr>
          <p:cNvPr id="45" name="Shape 40"/>
          <p:cNvSpPr/>
          <p:nvPr/>
        </p:nvSpPr>
        <p:spPr>
          <a:xfrm>
            <a:off x="8430768" y="4590288"/>
            <a:ext cx="1627632" cy="256032"/>
          </a:xfrm>
          <a:prstGeom prst="roundRect">
            <a:avLst>
              <a:gd name="adj" fmla="val 42857"/>
            </a:avLst>
          </a:prstGeom>
          <a:solidFill>
            <a:srgbClr val="132E62"/>
          </a:solidFill>
          <a:ln w="11430">
            <a:solidFill>
              <a:srgbClr val="4267C7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8503920" y="459028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P0 · 우선 개발</a:t>
            </a:r>
            <a:endParaRPr lang="en-US" sz="1000" dirty="0"/>
          </a:p>
        </p:txBody>
      </p:sp>
      <p:sp>
        <p:nvSpPr>
          <p:cNvPr id="47" name="Text 42"/>
          <p:cNvSpPr/>
          <p:nvPr/>
        </p:nvSpPr>
        <p:spPr>
          <a:xfrm>
            <a:off x="640080" y="5266944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확장 대상</a:t>
            </a:r>
            <a:endParaRPr lang="en-US" sz="1500" dirty="0"/>
          </a:p>
        </p:txBody>
      </p:sp>
      <p:sp>
        <p:nvSpPr>
          <p:cNvPr id="48" name="Shape 43"/>
          <p:cNvSpPr/>
          <p:nvPr/>
        </p:nvSpPr>
        <p:spPr>
          <a:xfrm>
            <a:off x="594360" y="5623560"/>
            <a:ext cx="2212848" cy="393192"/>
          </a:xfrm>
          <a:prstGeom prst="roundRect">
            <a:avLst>
              <a:gd name="adj" fmla="val 27907"/>
            </a:avLst>
          </a:prstGeom>
          <a:solidFill>
            <a:srgbClr val="142A59"/>
          </a:solidFill>
          <a:ln w="11430">
            <a:solidFill>
              <a:srgbClr val="355EA7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667512" y="5623560"/>
            <a:ext cx="20665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텍스트 · 메모</a:t>
            </a:r>
            <a:endParaRPr lang="en-US" sz="1180" dirty="0"/>
          </a:p>
        </p:txBody>
      </p:sp>
      <p:sp>
        <p:nvSpPr>
          <p:cNvPr id="50" name="Shape 45"/>
          <p:cNvSpPr/>
          <p:nvPr/>
        </p:nvSpPr>
        <p:spPr>
          <a:xfrm>
            <a:off x="2980944" y="5623560"/>
            <a:ext cx="2066544" cy="393192"/>
          </a:xfrm>
          <a:prstGeom prst="roundRect">
            <a:avLst>
              <a:gd name="adj" fmla="val 27907"/>
            </a:avLst>
          </a:prstGeom>
          <a:solidFill>
            <a:srgbClr val="251E55"/>
          </a:solidFill>
          <a:ln w="11430">
            <a:solidFill>
              <a:srgbClr val="6854AD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3054096" y="562356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업무 블럭</a:t>
            </a:r>
            <a:endParaRPr lang="en-US" sz="1180" dirty="0"/>
          </a:p>
        </p:txBody>
      </p:sp>
      <p:sp>
        <p:nvSpPr>
          <p:cNvPr id="52" name="Shape 47"/>
          <p:cNvSpPr/>
          <p:nvPr/>
        </p:nvSpPr>
        <p:spPr>
          <a:xfrm>
            <a:off x="5221224" y="5623560"/>
            <a:ext cx="2221992" cy="393192"/>
          </a:xfrm>
          <a:prstGeom prst="roundRect">
            <a:avLst>
              <a:gd name="adj" fmla="val 27907"/>
            </a:avLst>
          </a:prstGeom>
          <a:solidFill>
            <a:srgbClr val="142A59"/>
          </a:solidFill>
          <a:ln w="11430">
            <a:solidFill>
              <a:srgbClr val="355EA7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5294376" y="5623560"/>
            <a:ext cx="20756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연결선 · 라벨</a:t>
            </a:r>
            <a:endParaRPr lang="en-US" sz="1180" dirty="0"/>
          </a:p>
        </p:txBody>
      </p:sp>
      <p:sp>
        <p:nvSpPr>
          <p:cNvPr id="54" name="Shape 49"/>
          <p:cNvSpPr/>
          <p:nvPr/>
        </p:nvSpPr>
        <p:spPr>
          <a:xfrm>
            <a:off x="7616952" y="5623560"/>
            <a:ext cx="1956816" cy="393192"/>
          </a:xfrm>
          <a:prstGeom prst="roundRect">
            <a:avLst>
              <a:gd name="adj" fmla="val 27907"/>
            </a:avLst>
          </a:prstGeom>
          <a:solidFill>
            <a:srgbClr val="251E55"/>
          </a:solidFill>
          <a:ln w="11430">
            <a:solidFill>
              <a:srgbClr val="6854AD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7690104" y="5623560"/>
            <a:ext cx="18105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다중 선택</a:t>
            </a:r>
            <a:endParaRPr lang="en-US" sz="1180" dirty="0"/>
          </a:p>
        </p:txBody>
      </p:sp>
      <p:sp>
        <p:nvSpPr>
          <p:cNvPr id="56" name="Text 51"/>
          <p:cNvSpPr/>
          <p:nvPr/>
        </p:nvSpPr>
        <p:spPr>
          <a:xfrm>
            <a:off x="685800" y="616305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모든 객체 변경은 작업 확정 시 자동 저장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36576"/>
            <a:ext cx="4846320" cy="3657600"/>
          </a:xfrm>
          <a:prstGeom prst="ellipse">
            <a:avLst/>
          </a:prstGeom>
          <a:solidFill>
            <a:srgbClr val="10357F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0"/>
            <a:ext cx="3566160" cy="3840480"/>
          </a:xfrm>
          <a:prstGeom prst="ellipse">
            <a:avLst/>
          </a:prstGeom>
          <a:solidFill>
            <a:srgbClr val="362267">
              <a:alpha val="2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1381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7325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2688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92124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5156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1099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7043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543800" y="320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543800" y="1005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543800" y="16916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543800" y="23774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543800" y="30632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543800" y="3749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543800" y="4434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rot="300000">
            <a:off x="137160" y="6053328"/>
            <a:ext cx="5074920" cy="731520"/>
          </a:xfrm>
          <a:prstGeom prst="arc">
            <a:avLst/>
          </a:prstGeom>
          <a:solidFill>
            <a:srgbClr val="07102A">
              <a:alpha val="0"/>
            </a:srgbClr>
          </a:solidFill>
          <a:ln w="25400">
            <a:solidFill>
              <a:srgbClr val="1C3C95">
                <a:alpha val="7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6455664"/>
            <a:ext cx="11173968" cy="0"/>
          </a:xfrm>
          <a:prstGeom prst="line">
            <a:avLst/>
          </a:prstGeom>
          <a:noFill/>
          <a:ln w="10160">
            <a:solidFill>
              <a:srgbClr val="22345C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530352" y="292608"/>
            <a:ext cx="2432304" cy="292608"/>
          </a:xfrm>
          <a:prstGeom prst="roundRect">
            <a:avLst>
              <a:gd name="adj" fmla="val 37500"/>
            </a:avLst>
          </a:prstGeom>
          <a:solidFill>
            <a:srgbClr val="102554"/>
          </a:solidFill>
          <a:ln w="11430">
            <a:solidFill>
              <a:srgbClr val="4263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292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PROJECT  TASKCANVAS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65408" y="329184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7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06</a:t>
            </a:r>
            <a:endParaRPr lang="en-US" sz="1270" dirty="0"/>
          </a:p>
        </p:txBody>
      </p:sp>
      <p:sp>
        <p:nvSpPr>
          <p:cNvPr id="25" name="Text 23"/>
          <p:cNvSpPr/>
          <p:nvPr/>
        </p:nvSpPr>
        <p:spPr>
          <a:xfrm>
            <a:off x="566928" y="832104"/>
            <a:ext cx="11045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실시간 협업 동작 방식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585216" y="147218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4대 PC · 동일 LAN · 즉시 동기화 · 작업 확정 시 저장</a:t>
            </a:r>
            <a:endParaRPr lang="en-US" sz="1360" dirty="0"/>
          </a:p>
        </p:txBody>
      </p:sp>
      <p:sp>
        <p:nvSpPr>
          <p:cNvPr id="27" name="Shape 25"/>
          <p:cNvSpPr/>
          <p:nvPr/>
        </p:nvSpPr>
        <p:spPr>
          <a:xfrm>
            <a:off x="585216" y="1851660"/>
            <a:ext cx="658368" cy="36576"/>
          </a:xfrm>
          <a:prstGeom prst="rect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6547104"/>
            <a:ext cx="6217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8292B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· 3주 · WEB SERVER TEAM PROJECT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4247388" y="2071116"/>
            <a:ext cx="7443216" cy="3675888"/>
          </a:xfrm>
          <a:prstGeom prst="roundRect">
            <a:avLst>
              <a:gd name="adj" fmla="val 3483"/>
            </a:avLst>
          </a:prstGeom>
          <a:solidFill>
            <a:srgbClr val="111D44"/>
          </a:solidFill>
          <a:ln w="11430">
            <a:solidFill>
              <a:srgbClr val="315AB0"/>
            </a:solidFill>
            <a:prstDash val="solid"/>
          </a:ln>
        </p:spPr>
      </p:sp>
      <p:pic>
        <p:nvPicPr>
          <p:cNvPr id="30" name="Image 0" descr="/mnt/data/_taskcanvas_build/assets/illustration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2121408"/>
            <a:ext cx="7342632" cy="3575304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612648" y="2121408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101F43"/>
          </a:solidFill>
          <a:ln w="11430">
            <a:solidFill>
              <a:srgbClr val="395A9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6968" y="2386584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1320" dirty="0"/>
          </a:p>
        </p:txBody>
      </p:sp>
      <p:sp>
        <p:nvSpPr>
          <p:cNvPr id="33" name="Text 30"/>
          <p:cNvSpPr/>
          <p:nvPr/>
        </p:nvSpPr>
        <p:spPr>
          <a:xfrm>
            <a:off x="1371600" y="23865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 커서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1371600" y="2697480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다른 사용자의 위치와 이름 표시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886968" y="3182112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1320" dirty="0"/>
          </a:p>
        </p:txBody>
      </p:sp>
      <p:sp>
        <p:nvSpPr>
          <p:cNvPr id="36" name="Text 33"/>
          <p:cNvSpPr/>
          <p:nvPr/>
        </p:nvSpPr>
        <p:spPr>
          <a:xfrm>
            <a:off x="1371600" y="31821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펜 실시간 미리보기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1371600" y="3493008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그리는 도중 화면에 즉시 반영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886968" y="3977640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1320" dirty="0"/>
          </a:p>
        </p:txBody>
      </p:sp>
      <p:sp>
        <p:nvSpPr>
          <p:cNvPr id="39" name="Text 36"/>
          <p:cNvSpPr/>
          <p:nvPr/>
        </p:nvSpPr>
        <p:spPr>
          <a:xfrm>
            <a:off x="1371600" y="3977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객체별 잠금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1371600" y="4288536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동일 객체 동시 수정 차단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886968" y="4773168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1320" dirty="0"/>
          </a:p>
        </p:txBody>
      </p:sp>
      <p:sp>
        <p:nvSpPr>
          <p:cNvPr id="42" name="Text 39"/>
          <p:cNvSpPr/>
          <p:nvPr/>
        </p:nvSpPr>
        <p:spPr>
          <a:xfrm>
            <a:off x="1371600" y="47731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완료 시 DB 저장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1371600" y="5084064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작업 확정 시 서버에 영구 저장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658368" y="5897880"/>
            <a:ext cx="1993392" cy="347472"/>
          </a:xfrm>
          <a:prstGeom prst="roundRect">
            <a:avLst>
              <a:gd name="adj" fmla="val 31579"/>
            </a:avLst>
          </a:prstGeom>
          <a:solidFill>
            <a:srgbClr val="173767"/>
          </a:solidFill>
          <a:ln w="11430">
            <a:solidFill>
              <a:srgbClr val="3B6BB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31520" y="589788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편집 이벤트</a:t>
            </a:r>
            <a:endParaRPr lang="en-US" sz="1080" dirty="0"/>
          </a:p>
        </p:txBody>
      </p:sp>
      <p:sp>
        <p:nvSpPr>
          <p:cNvPr id="46" name="Text 43"/>
          <p:cNvSpPr/>
          <p:nvPr/>
        </p:nvSpPr>
        <p:spPr>
          <a:xfrm>
            <a:off x="2688336" y="5925312"/>
            <a:ext cx="2926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</a:t>
            </a:r>
            <a:endParaRPr lang="en-US" sz="1700" dirty="0"/>
          </a:p>
        </p:txBody>
      </p:sp>
      <p:sp>
        <p:nvSpPr>
          <p:cNvPr id="47" name="Shape 44"/>
          <p:cNvSpPr/>
          <p:nvPr/>
        </p:nvSpPr>
        <p:spPr>
          <a:xfrm>
            <a:off x="3044952" y="5897880"/>
            <a:ext cx="2148840" cy="347472"/>
          </a:xfrm>
          <a:prstGeom prst="roundRect">
            <a:avLst>
              <a:gd name="adj" fmla="val 31579"/>
            </a:avLst>
          </a:prstGeom>
          <a:solidFill>
            <a:srgbClr val="251E54"/>
          </a:solidFill>
          <a:ln w="11430">
            <a:solidFill>
              <a:srgbClr val="6554B9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118104" y="589788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Socket.IO 전달</a:t>
            </a:r>
            <a:endParaRPr lang="en-US" sz="1080" dirty="0"/>
          </a:p>
        </p:txBody>
      </p:sp>
      <p:sp>
        <p:nvSpPr>
          <p:cNvPr id="49" name="Text 46"/>
          <p:cNvSpPr/>
          <p:nvPr/>
        </p:nvSpPr>
        <p:spPr>
          <a:xfrm>
            <a:off x="5230368" y="5925312"/>
            <a:ext cx="2926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</a:t>
            </a:r>
            <a:endParaRPr lang="en-US" sz="1700" dirty="0"/>
          </a:p>
        </p:txBody>
      </p:sp>
      <p:sp>
        <p:nvSpPr>
          <p:cNvPr id="50" name="Shape 47"/>
          <p:cNvSpPr/>
          <p:nvPr/>
        </p:nvSpPr>
        <p:spPr>
          <a:xfrm>
            <a:off x="5577840" y="5897880"/>
            <a:ext cx="2240280" cy="347472"/>
          </a:xfrm>
          <a:prstGeom prst="roundRect">
            <a:avLst>
              <a:gd name="adj" fmla="val 31579"/>
            </a:avLst>
          </a:prstGeom>
          <a:solidFill>
            <a:srgbClr val="173767"/>
          </a:solidFill>
          <a:ln w="11430">
            <a:solidFill>
              <a:srgbClr val="3B6BB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650992" y="5897880"/>
            <a:ext cx="2093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다른 화면 반영</a:t>
            </a:r>
            <a:endParaRPr lang="en-US" sz="1080" dirty="0"/>
          </a:p>
        </p:txBody>
      </p:sp>
      <p:sp>
        <p:nvSpPr>
          <p:cNvPr id="52" name="Text 49"/>
          <p:cNvSpPr/>
          <p:nvPr/>
        </p:nvSpPr>
        <p:spPr>
          <a:xfrm>
            <a:off x="7872984" y="5925312"/>
            <a:ext cx="2926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</a:t>
            </a:r>
            <a:endParaRPr lang="en-US" sz="1700" dirty="0"/>
          </a:p>
        </p:txBody>
      </p:sp>
      <p:sp>
        <p:nvSpPr>
          <p:cNvPr id="53" name="Shape 50"/>
          <p:cNvSpPr/>
          <p:nvPr/>
        </p:nvSpPr>
        <p:spPr>
          <a:xfrm>
            <a:off x="8220456" y="5897880"/>
            <a:ext cx="2834640" cy="347472"/>
          </a:xfrm>
          <a:prstGeom prst="roundRect">
            <a:avLst>
              <a:gd name="adj" fmla="val 31579"/>
            </a:avLst>
          </a:prstGeom>
          <a:solidFill>
            <a:srgbClr val="1C3555"/>
          </a:solidFill>
          <a:ln w="11430">
            <a:solidFill>
              <a:srgbClr val="48889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293608" y="5897880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66E3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작업 확정 저장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36576"/>
            <a:ext cx="4846320" cy="3657600"/>
          </a:xfrm>
          <a:prstGeom prst="ellipse">
            <a:avLst/>
          </a:prstGeom>
          <a:solidFill>
            <a:srgbClr val="10357F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0"/>
            <a:ext cx="3566160" cy="3840480"/>
          </a:xfrm>
          <a:prstGeom prst="ellipse">
            <a:avLst/>
          </a:prstGeom>
          <a:solidFill>
            <a:srgbClr val="362267">
              <a:alpha val="2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1381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7325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2688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92124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5156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1099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7043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543800" y="320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543800" y="1005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543800" y="16916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543800" y="23774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543800" y="30632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543800" y="3749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543800" y="4434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rot="300000">
            <a:off x="137160" y="6053328"/>
            <a:ext cx="5074920" cy="731520"/>
          </a:xfrm>
          <a:prstGeom prst="arc">
            <a:avLst/>
          </a:prstGeom>
          <a:solidFill>
            <a:srgbClr val="07102A">
              <a:alpha val="0"/>
            </a:srgbClr>
          </a:solidFill>
          <a:ln w="25400">
            <a:solidFill>
              <a:srgbClr val="1C3C95">
                <a:alpha val="7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6455664"/>
            <a:ext cx="11173968" cy="0"/>
          </a:xfrm>
          <a:prstGeom prst="line">
            <a:avLst/>
          </a:prstGeom>
          <a:noFill/>
          <a:ln w="10160">
            <a:solidFill>
              <a:srgbClr val="22345C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530352" y="292608"/>
            <a:ext cx="2432304" cy="292608"/>
          </a:xfrm>
          <a:prstGeom prst="roundRect">
            <a:avLst>
              <a:gd name="adj" fmla="val 37500"/>
            </a:avLst>
          </a:prstGeom>
          <a:solidFill>
            <a:srgbClr val="102554"/>
          </a:solidFill>
          <a:ln w="11430">
            <a:solidFill>
              <a:srgbClr val="4263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292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PROJECT  TASKCANVAS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65408" y="329184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7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07</a:t>
            </a:r>
            <a:endParaRPr lang="en-US" sz="1270" dirty="0"/>
          </a:p>
        </p:txBody>
      </p:sp>
      <p:sp>
        <p:nvSpPr>
          <p:cNvPr id="25" name="Text 23"/>
          <p:cNvSpPr/>
          <p:nvPr/>
        </p:nvSpPr>
        <p:spPr>
          <a:xfrm>
            <a:off x="566928" y="832104"/>
            <a:ext cx="11045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시스템 기술 구조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585216" y="147218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웹서버 · 실시간 서버 · 데이터베이스의 역할 분리</a:t>
            </a:r>
            <a:endParaRPr lang="en-US" sz="1360" dirty="0"/>
          </a:p>
        </p:txBody>
      </p:sp>
      <p:sp>
        <p:nvSpPr>
          <p:cNvPr id="27" name="Shape 25"/>
          <p:cNvSpPr/>
          <p:nvPr/>
        </p:nvSpPr>
        <p:spPr>
          <a:xfrm>
            <a:off x="585216" y="1851660"/>
            <a:ext cx="658368" cy="36576"/>
          </a:xfrm>
          <a:prstGeom prst="rect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6547104"/>
            <a:ext cx="6217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8292B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· 3주 · WEB SERVER TEAM PROJECT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4069080" y="2029968"/>
            <a:ext cx="4087368" cy="713232"/>
          </a:xfrm>
          <a:prstGeom prst="roundRect">
            <a:avLst>
              <a:gd name="adj" fmla="val 15385"/>
            </a:avLst>
          </a:prstGeom>
          <a:solidFill>
            <a:srgbClr val="163362"/>
          </a:solidFill>
          <a:ln w="11430">
            <a:solidFill>
              <a:srgbClr val="4B82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98264" y="2167128"/>
            <a:ext cx="3447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브라우저 / PC 4대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4352544" y="2542032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HTML  ·  CSS  ·  JavaScript  ·  Konva.js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6080760" y="2743200"/>
            <a:ext cx="0" cy="201168"/>
          </a:xfrm>
          <a:prstGeom prst="line">
            <a:avLst/>
          </a:prstGeom>
          <a:noFill/>
          <a:ln w="25400">
            <a:solidFill>
              <a:srgbClr val="5793D8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3611880" y="2944368"/>
            <a:ext cx="5102352" cy="0"/>
          </a:xfrm>
          <a:prstGeom prst="line">
            <a:avLst/>
          </a:prstGeom>
          <a:noFill/>
          <a:ln w="22860">
            <a:solidFill>
              <a:srgbClr val="5793D8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3611880" y="2944368"/>
            <a:ext cx="0" cy="246888"/>
          </a:xfrm>
          <a:prstGeom prst="line">
            <a:avLst/>
          </a:prstGeom>
          <a:noFill/>
          <a:ln w="22860">
            <a:solidFill>
              <a:srgbClr val="5793D8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8714232" y="2944368"/>
            <a:ext cx="0" cy="246888"/>
          </a:xfrm>
          <a:prstGeom prst="line">
            <a:avLst/>
          </a:prstGeom>
          <a:noFill/>
          <a:ln w="22860">
            <a:solidFill>
              <a:srgbClr val="5793D8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1399032" y="3182112"/>
            <a:ext cx="4407408" cy="1280160"/>
          </a:xfrm>
          <a:prstGeom prst="roundRect">
            <a:avLst>
              <a:gd name="adj" fmla="val 8571"/>
            </a:avLst>
          </a:prstGeom>
          <a:solidFill>
            <a:srgbClr val="15274E"/>
          </a:solidFill>
          <a:ln w="11430">
            <a:solidFill>
              <a:srgbClr val="385AA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64208" y="3355848"/>
            <a:ext cx="3886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Apache + PHP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728216" y="387705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로그인 · 권한 · 프로젝트/보드 API · 파일 업로드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510528" y="3182112"/>
            <a:ext cx="4379976" cy="1280160"/>
          </a:xfrm>
          <a:prstGeom prst="roundRect">
            <a:avLst>
              <a:gd name="adj" fmla="val 8571"/>
            </a:avLst>
          </a:prstGeom>
          <a:solidFill>
            <a:srgbClr val="1B224E"/>
          </a:solidFill>
          <a:ln w="11430">
            <a:solidFill>
              <a:srgbClr val="6950A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30568" y="3355848"/>
            <a:ext cx="36850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Node.js + Socket.IO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6848856" y="3877056"/>
            <a:ext cx="3739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 커서 · 실시간 이벤트 · 편집 잠금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423160" y="2907792"/>
            <a:ext cx="1993392" cy="201168"/>
          </a:xfrm>
          <a:prstGeom prst="roundRect">
            <a:avLst>
              <a:gd name="adj" fmla="val 54545"/>
            </a:avLst>
          </a:prstGeom>
          <a:solidFill>
            <a:srgbClr val="102957"/>
          </a:solidFill>
          <a:ln w="11430">
            <a:solidFill>
              <a:srgbClr val="2E5FB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96312" y="290779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HTTP / PHP API</a:t>
            </a:r>
            <a:endParaRPr lang="en-US" sz="930" dirty="0"/>
          </a:p>
        </p:txBody>
      </p:sp>
      <p:sp>
        <p:nvSpPr>
          <p:cNvPr id="44" name="Shape 42"/>
          <p:cNvSpPr/>
          <p:nvPr/>
        </p:nvSpPr>
        <p:spPr>
          <a:xfrm>
            <a:off x="8037576" y="2907792"/>
            <a:ext cx="1481328" cy="201168"/>
          </a:xfrm>
          <a:prstGeom prst="roundRect">
            <a:avLst>
              <a:gd name="adj" fmla="val 54545"/>
            </a:avLst>
          </a:prstGeom>
          <a:solidFill>
            <a:srgbClr val="2C2159"/>
          </a:solidFill>
          <a:ln w="11430">
            <a:solidFill>
              <a:srgbClr val="6751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10728" y="2907792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WebSocket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3602736" y="4462272"/>
            <a:ext cx="0" cy="256032"/>
          </a:xfrm>
          <a:prstGeom prst="line">
            <a:avLst/>
          </a:prstGeom>
          <a:noFill/>
          <a:ln w="22860">
            <a:solidFill>
              <a:srgbClr val="5793D8"/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8705088" y="4462272"/>
            <a:ext cx="0" cy="256032"/>
          </a:xfrm>
          <a:prstGeom prst="line">
            <a:avLst/>
          </a:prstGeom>
          <a:noFill/>
          <a:ln w="22860">
            <a:solidFill>
              <a:srgbClr val="9472D6"/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3602736" y="4718304"/>
            <a:ext cx="5102352" cy="0"/>
          </a:xfrm>
          <a:prstGeom prst="line">
            <a:avLst/>
          </a:prstGeom>
          <a:noFill/>
          <a:ln w="22860">
            <a:solidFill>
              <a:srgbClr val="5793D8"/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6190488" y="4718304"/>
            <a:ext cx="0" cy="246888"/>
          </a:xfrm>
          <a:prstGeom prst="line">
            <a:avLst/>
          </a:prstGeom>
          <a:noFill/>
          <a:ln w="22860">
            <a:solidFill>
              <a:srgbClr val="5793D8"/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4215384" y="4956048"/>
            <a:ext cx="3931920" cy="850392"/>
          </a:xfrm>
          <a:prstGeom prst="roundRect">
            <a:avLst>
              <a:gd name="adj" fmla="val 12903"/>
            </a:avLst>
          </a:prstGeom>
          <a:solidFill>
            <a:srgbClr val="12304E"/>
          </a:solidFill>
          <a:ln w="11430">
            <a:solidFill>
              <a:srgbClr val="438A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62856" y="5065776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6E3C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MySQL / MariaDB</a:t>
            </a:r>
            <a:endParaRPr lang="en-US" sz="1900" dirty="0"/>
          </a:p>
        </p:txBody>
      </p:sp>
      <p:sp>
        <p:nvSpPr>
          <p:cNvPr id="52" name="Text 50"/>
          <p:cNvSpPr/>
          <p:nvPr/>
        </p:nvSpPr>
        <p:spPr>
          <a:xfrm>
            <a:off x="4581144" y="5486400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 · 보드 · 객체 · 업무 정보</a:t>
            </a:r>
            <a:endParaRPr lang="en-US" sz="1060" dirty="0"/>
          </a:p>
        </p:txBody>
      </p:sp>
      <p:sp>
        <p:nvSpPr>
          <p:cNvPr id="53" name="Shape 51"/>
          <p:cNvSpPr/>
          <p:nvPr/>
        </p:nvSpPr>
        <p:spPr>
          <a:xfrm>
            <a:off x="8750808" y="5010912"/>
            <a:ext cx="2670048" cy="749808"/>
          </a:xfrm>
          <a:prstGeom prst="roundRect">
            <a:avLst>
              <a:gd name="adj" fmla="val 14634"/>
            </a:avLst>
          </a:prstGeom>
          <a:solidFill>
            <a:srgbClr val="171F47"/>
          </a:solidFill>
          <a:ln w="11430">
            <a:solidFill>
              <a:srgbClr val="4962A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34272" y="5129784"/>
            <a:ext cx="21305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File Storage</a:t>
            </a:r>
            <a:endParaRPr lang="en-US" sz="1520" dirty="0"/>
          </a:p>
        </p:txBody>
      </p:sp>
      <p:sp>
        <p:nvSpPr>
          <p:cNvPr id="55" name="Text 53"/>
          <p:cNvSpPr/>
          <p:nvPr/>
        </p:nvSpPr>
        <p:spPr>
          <a:xfrm>
            <a:off x="9061704" y="548640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이미지 · 첨부파일</a:t>
            </a:r>
            <a:endParaRPr lang="en-US" sz="1030" dirty="0"/>
          </a:p>
        </p:txBody>
      </p:sp>
      <p:sp>
        <p:nvSpPr>
          <p:cNvPr id="56" name="Shape 54"/>
          <p:cNvSpPr/>
          <p:nvPr/>
        </p:nvSpPr>
        <p:spPr>
          <a:xfrm>
            <a:off x="8119872" y="5449824"/>
            <a:ext cx="630936" cy="0"/>
          </a:xfrm>
          <a:prstGeom prst="line">
            <a:avLst/>
          </a:prstGeom>
          <a:noFill/>
          <a:ln w="21590">
            <a:solidFill>
              <a:srgbClr val="4775B3"/>
            </a:solidFill>
            <a:prstDash val="solid"/>
            <a:headEnd type="none"/>
            <a:tailEnd type="none"/>
          </a:ln>
        </p:spPr>
      </p:sp>
      <p:sp>
        <p:nvSpPr>
          <p:cNvPr id="57" name="Text 55"/>
          <p:cNvSpPr/>
          <p:nvPr/>
        </p:nvSpPr>
        <p:spPr>
          <a:xfrm>
            <a:off x="832104" y="6044184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PHP는 일반 기능 / Node.js는 실시간 기능 / DB는 최종 상태 저장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36576"/>
            <a:ext cx="4846320" cy="3657600"/>
          </a:xfrm>
          <a:prstGeom prst="ellipse">
            <a:avLst/>
          </a:prstGeom>
          <a:solidFill>
            <a:srgbClr val="10357F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0"/>
            <a:ext cx="3566160" cy="3840480"/>
          </a:xfrm>
          <a:prstGeom prst="ellipse">
            <a:avLst/>
          </a:prstGeom>
          <a:solidFill>
            <a:srgbClr val="362267">
              <a:alpha val="2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1381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7325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2688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92124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5156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1099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7043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543800" y="320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543800" y="1005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543800" y="16916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543800" y="23774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543800" y="30632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543800" y="3749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543800" y="4434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rot="300000">
            <a:off x="137160" y="6053328"/>
            <a:ext cx="5074920" cy="731520"/>
          </a:xfrm>
          <a:prstGeom prst="arc">
            <a:avLst/>
          </a:prstGeom>
          <a:solidFill>
            <a:srgbClr val="07102A">
              <a:alpha val="0"/>
            </a:srgbClr>
          </a:solidFill>
          <a:ln w="25400">
            <a:solidFill>
              <a:srgbClr val="1C3C95">
                <a:alpha val="7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6455664"/>
            <a:ext cx="11173968" cy="0"/>
          </a:xfrm>
          <a:prstGeom prst="line">
            <a:avLst/>
          </a:prstGeom>
          <a:noFill/>
          <a:ln w="10160">
            <a:solidFill>
              <a:srgbClr val="22345C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530352" y="292608"/>
            <a:ext cx="2432304" cy="292608"/>
          </a:xfrm>
          <a:prstGeom prst="roundRect">
            <a:avLst>
              <a:gd name="adj" fmla="val 37500"/>
            </a:avLst>
          </a:prstGeom>
          <a:solidFill>
            <a:srgbClr val="102554"/>
          </a:solidFill>
          <a:ln w="11430">
            <a:solidFill>
              <a:srgbClr val="4263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292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PROJECT  TASKCANVAS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65408" y="329184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7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08</a:t>
            </a:r>
            <a:endParaRPr lang="en-US" sz="1270" dirty="0"/>
          </a:p>
        </p:txBody>
      </p:sp>
      <p:sp>
        <p:nvSpPr>
          <p:cNvPr id="25" name="Text 23"/>
          <p:cNvSpPr/>
          <p:nvPr/>
        </p:nvSpPr>
        <p:spPr>
          <a:xfrm>
            <a:off x="566928" y="832104"/>
            <a:ext cx="11045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팀 구성 및 역할 분담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585216" y="147218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총 4명 · 담당 영역을 나누되 통합 규격은 함께 결정</a:t>
            </a:r>
            <a:endParaRPr lang="en-US" sz="1360" dirty="0"/>
          </a:p>
        </p:txBody>
      </p:sp>
      <p:sp>
        <p:nvSpPr>
          <p:cNvPr id="27" name="Shape 25"/>
          <p:cNvSpPr/>
          <p:nvPr/>
        </p:nvSpPr>
        <p:spPr>
          <a:xfrm>
            <a:off x="585216" y="1851660"/>
            <a:ext cx="658368" cy="36576"/>
          </a:xfrm>
          <a:prstGeom prst="rect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6547104"/>
            <a:ext cx="6217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8292B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· 3주 · WEB SERVER TEAM PROJECT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484632" y="2103120"/>
            <a:ext cx="2523744" cy="3602736"/>
          </a:xfrm>
          <a:prstGeom prst="roundRect">
            <a:avLst>
              <a:gd name="adj" fmla="val 4348"/>
            </a:avLst>
          </a:prstGeom>
          <a:solidFill>
            <a:srgbClr val="142448"/>
          </a:solidFill>
          <a:ln w="11430">
            <a:solidFill>
              <a:srgbClr val="346D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" y="2322576"/>
            <a:ext cx="2185416" cy="274320"/>
          </a:xfrm>
          <a:prstGeom prst="roundRect">
            <a:avLst>
              <a:gd name="adj" fmla="val 40000"/>
            </a:avLst>
          </a:prstGeom>
          <a:solidFill>
            <a:srgbClr val="15365D"/>
          </a:solidFill>
          <a:ln w="11430">
            <a:solidFill>
              <a:srgbClr val="3366B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" y="2322576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본인 / 제안 배정</a:t>
            </a:r>
            <a:endParaRPr lang="en-US" sz="1010" dirty="0"/>
          </a:p>
        </p:txBody>
      </p:sp>
      <p:sp>
        <p:nvSpPr>
          <p:cNvPr id="32" name="Text 30"/>
          <p:cNvSpPr/>
          <p:nvPr/>
        </p:nvSpPr>
        <p:spPr>
          <a:xfrm>
            <a:off x="658368" y="2798064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649224" y="3401568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· 통합</a:t>
            </a:r>
            <a:endParaRPr lang="en-US" sz="1640" dirty="0"/>
          </a:p>
        </p:txBody>
      </p:sp>
      <p:sp>
        <p:nvSpPr>
          <p:cNvPr id="34" name="Shape 32"/>
          <p:cNvSpPr/>
          <p:nvPr/>
        </p:nvSpPr>
        <p:spPr>
          <a:xfrm>
            <a:off x="640080" y="3968496"/>
            <a:ext cx="2203704" cy="0"/>
          </a:xfrm>
          <a:prstGeom prst="line">
            <a:avLst/>
          </a:prstGeom>
          <a:noFill/>
          <a:ln w="12700">
            <a:solidFill>
              <a:srgbClr val="415B8C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658368" y="4370832"/>
            <a:ext cx="64008" cy="64008"/>
          </a:xfrm>
          <a:prstGeom prst="ellipse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" y="422452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요구사항·UI 구조 정리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658368" y="4800600"/>
            <a:ext cx="64008" cy="64008"/>
          </a:xfrm>
          <a:prstGeom prst="ellipse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2104" y="465429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일정 관리·Git 통합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658368" y="5230368"/>
            <a:ext cx="64008" cy="64008"/>
          </a:xfrm>
          <a:prstGeom prst="ellipse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2104" y="5084064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테스트·발표 준비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3401568" y="2103120"/>
            <a:ext cx="2523744" cy="3602736"/>
          </a:xfrm>
          <a:prstGeom prst="roundRect">
            <a:avLst>
              <a:gd name="adj" fmla="val 4348"/>
            </a:avLst>
          </a:prstGeom>
          <a:solidFill>
            <a:srgbClr val="142448"/>
          </a:solidFill>
          <a:ln w="11430">
            <a:solidFill>
              <a:srgbClr val="725BB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66160" y="2322576"/>
            <a:ext cx="2185416" cy="274320"/>
          </a:xfrm>
          <a:prstGeom prst="roundRect">
            <a:avLst>
              <a:gd name="adj" fmla="val 40000"/>
            </a:avLst>
          </a:prstGeom>
          <a:solidFill>
            <a:srgbClr val="2B255F"/>
          </a:solidFill>
          <a:ln w="11430">
            <a:solidFill>
              <a:srgbClr val="7956B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39312" y="2322576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필요한 팀원 ①</a:t>
            </a:r>
            <a:endParaRPr lang="en-US" sz="1010" dirty="0"/>
          </a:p>
        </p:txBody>
      </p:sp>
      <p:sp>
        <p:nvSpPr>
          <p:cNvPr id="44" name="Text 42"/>
          <p:cNvSpPr/>
          <p:nvPr/>
        </p:nvSpPr>
        <p:spPr>
          <a:xfrm>
            <a:off x="3575304" y="2798064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2700" dirty="0"/>
          </a:p>
        </p:txBody>
      </p:sp>
      <p:sp>
        <p:nvSpPr>
          <p:cNvPr id="45" name="Text 43"/>
          <p:cNvSpPr/>
          <p:nvPr/>
        </p:nvSpPr>
        <p:spPr>
          <a:xfrm>
            <a:off x="3566160" y="3401568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프론트엔드</a:t>
            </a:r>
            <a:endParaRPr lang="en-US" sz="1640" dirty="0"/>
          </a:p>
        </p:txBody>
      </p:sp>
      <p:sp>
        <p:nvSpPr>
          <p:cNvPr id="46" name="Shape 44"/>
          <p:cNvSpPr/>
          <p:nvPr/>
        </p:nvSpPr>
        <p:spPr>
          <a:xfrm>
            <a:off x="3557016" y="3968496"/>
            <a:ext cx="2203704" cy="0"/>
          </a:xfrm>
          <a:prstGeom prst="line">
            <a:avLst/>
          </a:prstGeom>
          <a:noFill/>
          <a:ln w="12700">
            <a:solidFill>
              <a:srgbClr val="415B8C"/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3575304" y="4370832"/>
            <a:ext cx="64008" cy="64008"/>
          </a:xfrm>
          <a:prstGeom prst="ellipse">
            <a:avLst/>
          </a:prstGeom>
          <a:solidFill>
            <a:srgbClr val="A98BFF"/>
          </a:solidFill>
          <a:ln w="12700">
            <a:solidFill>
              <a:srgbClr val="A98B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49040" y="422452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화이트보드 화면·툴바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3575304" y="4800600"/>
            <a:ext cx="64008" cy="64008"/>
          </a:xfrm>
          <a:prstGeom prst="ellipse">
            <a:avLst/>
          </a:prstGeom>
          <a:solidFill>
            <a:srgbClr val="A98BFF"/>
          </a:solidFill>
          <a:ln w="12700">
            <a:solidFill>
              <a:srgbClr val="A98BFF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49040" y="465429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펜·도형·선택·이동</a:t>
            </a:r>
            <a:endParaRPr lang="en-US" sz="1080" dirty="0"/>
          </a:p>
        </p:txBody>
      </p:sp>
      <p:sp>
        <p:nvSpPr>
          <p:cNvPr id="51" name="Shape 49"/>
          <p:cNvSpPr/>
          <p:nvPr/>
        </p:nvSpPr>
        <p:spPr>
          <a:xfrm>
            <a:off x="3575304" y="5230368"/>
            <a:ext cx="64008" cy="64008"/>
          </a:xfrm>
          <a:prstGeom prst="ellipse">
            <a:avLst/>
          </a:prstGeom>
          <a:solidFill>
            <a:srgbClr val="A98BFF"/>
          </a:solidFill>
          <a:ln w="12700">
            <a:solidFill>
              <a:srgbClr val="A98B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49040" y="5084064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속성 패널·미디어 UI</a:t>
            </a:r>
            <a:endParaRPr lang="en-US" sz="1080" dirty="0"/>
          </a:p>
        </p:txBody>
      </p:sp>
      <p:sp>
        <p:nvSpPr>
          <p:cNvPr id="53" name="Shape 51"/>
          <p:cNvSpPr/>
          <p:nvPr/>
        </p:nvSpPr>
        <p:spPr>
          <a:xfrm>
            <a:off x="6309360" y="2103120"/>
            <a:ext cx="2523744" cy="3602736"/>
          </a:xfrm>
          <a:prstGeom prst="roundRect">
            <a:avLst>
              <a:gd name="adj" fmla="val 4348"/>
            </a:avLst>
          </a:prstGeom>
          <a:solidFill>
            <a:srgbClr val="142448"/>
          </a:solidFill>
          <a:ln w="11430">
            <a:solidFill>
              <a:srgbClr val="2E82A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73952" y="2322576"/>
            <a:ext cx="2185416" cy="274320"/>
          </a:xfrm>
          <a:prstGeom prst="roundRect">
            <a:avLst>
              <a:gd name="adj" fmla="val 40000"/>
            </a:avLst>
          </a:prstGeom>
          <a:solidFill>
            <a:srgbClr val="2B255F"/>
          </a:solidFill>
          <a:ln w="11430">
            <a:solidFill>
              <a:srgbClr val="7956B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47104" y="2322576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필요한 팀원 ②</a:t>
            </a:r>
            <a:endParaRPr lang="en-US" sz="1010" dirty="0"/>
          </a:p>
        </p:txBody>
      </p:sp>
      <p:sp>
        <p:nvSpPr>
          <p:cNvPr id="56" name="Text 54"/>
          <p:cNvSpPr/>
          <p:nvPr/>
        </p:nvSpPr>
        <p:spPr>
          <a:xfrm>
            <a:off x="6483096" y="2798064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2700" dirty="0"/>
          </a:p>
        </p:txBody>
      </p:sp>
      <p:sp>
        <p:nvSpPr>
          <p:cNvPr id="57" name="Text 55"/>
          <p:cNvSpPr/>
          <p:nvPr/>
        </p:nvSpPr>
        <p:spPr>
          <a:xfrm>
            <a:off x="6473952" y="3401568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실시간 서버</a:t>
            </a:r>
            <a:endParaRPr lang="en-US" sz="1640" dirty="0"/>
          </a:p>
        </p:txBody>
      </p:sp>
      <p:sp>
        <p:nvSpPr>
          <p:cNvPr id="58" name="Shape 56"/>
          <p:cNvSpPr/>
          <p:nvPr/>
        </p:nvSpPr>
        <p:spPr>
          <a:xfrm>
            <a:off x="6464808" y="3968496"/>
            <a:ext cx="2203704" cy="0"/>
          </a:xfrm>
          <a:prstGeom prst="line">
            <a:avLst/>
          </a:prstGeom>
          <a:noFill/>
          <a:ln w="12700">
            <a:solidFill>
              <a:srgbClr val="415B8C"/>
            </a:solidFill>
            <a:prstDash val="solid"/>
            <a:headEnd type="none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6483096" y="4370832"/>
            <a:ext cx="64008" cy="64008"/>
          </a:xfrm>
          <a:prstGeom prst="ellipse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56832" y="422452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Socket.IO 이벤트·동기화</a:t>
            </a:r>
            <a:endParaRPr lang="en-US" sz="1080" dirty="0"/>
          </a:p>
        </p:txBody>
      </p:sp>
      <p:sp>
        <p:nvSpPr>
          <p:cNvPr id="61" name="Shape 59"/>
          <p:cNvSpPr/>
          <p:nvPr/>
        </p:nvSpPr>
        <p:spPr>
          <a:xfrm>
            <a:off x="6483096" y="4800600"/>
            <a:ext cx="64008" cy="64008"/>
          </a:xfrm>
          <a:prstGeom prst="ellipse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656832" y="465429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실시간 커서·객체 잠금</a:t>
            </a:r>
            <a:endParaRPr lang="en-US" sz="1080" dirty="0"/>
          </a:p>
        </p:txBody>
      </p:sp>
      <p:sp>
        <p:nvSpPr>
          <p:cNvPr id="63" name="Shape 61"/>
          <p:cNvSpPr/>
          <p:nvPr/>
        </p:nvSpPr>
        <p:spPr>
          <a:xfrm>
            <a:off x="6483096" y="5230368"/>
            <a:ext cx="64008" cy="64008"/>
          </a:xfrm>
          <a:prstGeom prst="ellipse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656832" y="5084064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변경 전송·재접속 처리</a:t>
            </a:r>
            <a:endParaRPr lang="en-US" sz="1080" dirty="0"/>
          </a:p>
        </p:txBody>
      </p:sp>
      <p:sp>
        <p:nvSpPr>
          <p:cNvPr id="65" name="Shape 63"/>
          <p:cNvSpPr/>
          <p:nvPr/>
        </p:nvSpPr>
        <p:spPr>
          <a:xfrm>
            <a:off x="9217152" y="2103120"/>
            <a:ext cx="2523744" cy="3602736"/>
          </a:xfrm>
          <a:prstGeom prst="roundRect">
            <a:avLst>
              <a:gd name="adj" fmla="val 4348"/>
            </a:avLst>
          </a:prstGeom>
          <a:solidFill>
            <a:srgbClr val="142448"/>
          </a:solidFill>
          <a:ln w="11430">
            <a:solidFill>
              <a:srgbClr val="8659B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381744" y="2322576"/>
            <a:ext cx="2185416" cy="274320"/>
          </a:xfrm>
          <a:prstGeom prst="roundRect">
            <a:avLst>
              <a:gd name="adj" fmla="val 40000"/>
            </a:avLst>
          </a:prstGeom>
          <a:solidFill>
            <a:srgbClr val="2B255F"/>
          </a:solidFill>
          <a:ln w="11430">
            <a:solidFill>
              <a:srgbClr val="7956B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454896" y="2322576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dirty="0">
                <a:solidFill>
                  <a:srgbClr val="E49A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필요한 팀원 ③</a:t>
            </a:r>
            <a:endParaRPr lang="en-US" sz="1010" dirty="0"/>
          </a:p>
        </p:txBody>
      </p:sp>
      <p:sp>
        <p:nvSpPr>
          <p:cNvPr id="68" name="Text 66"/>
          <p:cNvSpPr/>
          <p:nvPr/>
        </p:nvSpPr>
        <p:spPr>
          <a:xfrm>
            <a:off x="9390888" y="2798064"/>
            <a:ext cx="704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49A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2700" dirty="0"/>
          </a:p>
        </p:txBody>
      </p:sp>
      <p:sp>
        <p:nvSpPr>
          <p:cNvPr id="69" name="Text 67"/>
          <p:cNvSpPr/>
          <p:nvPr/>
        </p:nvSpPr>
        <p:spPr>
          <a:xfrm>
            <a:off x="9381744" y="3401568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백엔드 · DB</a:t>
            </a:r>
            <a:endParaRPr lang="en-US" sz="1640" dirty="0"/>
          </a:p>
        </p:txBody>
      </p:sp>
      <p:sp>
        <p:nvSpPr>
          <p:cNvPr id="70" name="Shape 68"/>
          <p:cNvSpPr/>
          <p:nvPr/>
        </p:nvSpPr>
        <p:spPr>
          <a:xfrm>
            <a:off x="9372600" y="3968496"/>
            <a:ext cx="2203704" cy="0"/>
          </a:xfrm>
          <a:prstGeom prst="line">
            <a:avLst/>
          </a:prstGeom>
          <a:noFill/>
          <a:ln w="12700">
            <a:solidFill>
              <a:srgbClr val="415B8C"/>
            </a:solidFill>
            <a:prstDash val="solid"/>
            <a:headEnd type="none"/>
            <a:tailEnd type="none"/>
          </a:ln>
        </p:spPr>
      </p:sp>
      <p:sp>
        <p:nvSpPr>
          <p:cNvPr id="71" name="Shape 69"/>
          <p:cNvSpPr/>
          <p:nvPr/>
        </p:nvSpPr>
        <p:spPr>
          <a:xfrm>
            <a:off x="9390888" y="4370832"/>
            <a:ext cx="64008" cy="64008"/>
          </a:xfrm>
          <a:prstGeom prst="ellipse">
            <a:avLst/>
          </a:prstGeom>
          <a:solidFill>
            <a:srgbClr val="E49AFA"/>
          </a:solidFill>
          <a:ln w="12700">
            <a:solidFill>
              <a:srgbClr val="E49AFA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564624" y="422452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로그인·프로젝트 API</a:t>
            </a:r>
            <a:endParaRPr lang="en-US" sz="1080" dirty="0"/>
          </a:p>
        </p:txBody>
      </p:sp>
      <p:sp>
        <p:nvSpPr>
          <p:cNvPr id="73" name="Shape 71"/>
          <p:cNvSpPr/>
          <p:nvPr/>
        </p:nvSpPr>
        <p:spPr>
          <a:xfrm>
            <a:off x="9390888" y="4800600"/>
            <a:ext cx="64008" cy="64008"/>
          </a:xfrm>
          <a:prstGeom prst="ellipse">
            <a:avLst/>
          </a:prstGeom>
          <a:solidFill>
            <a:srgbClr val="E49AFA"/>
          </a:solidFill>
          <a:ln w="12700">
            <a:solidFill>
              <a:srgbClr val="E49AFA">
                <a:alpha val="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564624" y="465429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MySQL 구조·권한 검사</a:t>
            </a:r>
            <a:endParaRPr lang="en-US" sz="1080" dirty="0"/>
          </a:p>
        </p:txBody>
      </p:sp>
      <p:sp>
        <p:nvSpPr>
          <p:cNvPr id="75" name="Shape 73"/>
          <p:cNvSpPr/>
          <p:nvPr/>
        </p:nvSpPr>
        <p:spPr>
          <a:xfrm>
            <a:off x="9390888" y="5230368"/>
            <a:ext cx="64008" cy="64008"/>
          </a:xfrm>
          <a:prstGeom prst="ellipse">
            <a:avLst/>
          </a:prstGeom>
          <a:solidFill>
            <a:srgbClr val="E49AFA"/>
          </a:solidFill>
          <a:ln w="12700">
            <a:solidFill>
              <a:srgbClr val="E49AFA">
                <a:alpha val="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564624" y="5084064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파일 업로드·저장</a:t>
            </a:r>
            <a:endParaRPr lang="en-US" sz="1080" dirty="0"/>
          </a:p>
        </p:txBody>
      </p:sp>
      <p:sp>
        <p:nvSpPr>
          <p:cNvPr id="77" name="Shape 75"/>
          <p:cNvSpPr/>
          <p:nvPr/>
        </p:nvSpPr>
        <p:spPr>
          <a:xfrm>
            <a:off x="603504" y="5888736"/>
            <a:ext cx="10917936" cy="365760"/>
          </a:xfrm>
          <a:prstGeom prst="roundRect">
            <a:avLst>
              <a:gd name="adj" fmla="val 30000"/>
            </a:avLst>
          </a:prstGeom>
          <a:solidFill>
            <a:srgbClr val="102248"/>
          </a:solidFill>
          <a:ln w="11430">
            <a:solidFill>
              <a:srgbClr val="35589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59536" y="5971032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협업 방식</a:t>
            </a:r>
            <a:endParaRPr lang="en-US" sz="1140" dirty="0"/>
          </a:p>
        </p:txBody>
      </p:sp>
      <p:sp>
        <p:nvSpPr>
          <p:cNvPr id="79" name="Text 77"/>
          <p:cNvSpPr/>
          <p:nvPr/>
        </p:nvSpPr>
        <p:spPr>
          <a:xfrm>
            <a:off x="2048256" y="5971032"/>
            <a:ext cx="9189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공통 데이터 구조 합의   ·   이벤트 규격 공유   ·   매주 통합 테스트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36576"/>
            <a:ext cx="4846320" cy="3657600"/>
          </a:xfrm>
          <a:prstGeom prst="ellipse">
            <a:avLst/>
          </a:prstGeom>
          <a:solidFill>
            <a:srgbClr val="10357F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0"/>
            <a:ext cx="3566160" cy="3840480"/>
          </a:xfrm>
          <a:prstGeom prst="ellipse">
            <a:avLst/>
          </a:prstGeom>
          <a:solidFill>
            <a:srgbClr val="362267">
              <a:alpha val="2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1381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7325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2688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92124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5156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1099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7043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543800" y="320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543800" y="1005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543800" y="16916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543800" y="23774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543800" y="30632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543800" y="3749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543800" y="4434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rot="300000">
            <a:off x="137160" y="6053328"/>
            <a:ext cx="5074920" cy="731520"/>
          </a:xfrm>
          <a:prstGeom prst="arc">
            <a:avLst/>
          </a:prstGeom>
          <a:solidFill>
            <a:srgbClr val="07102A">
              <a:alpha val="0"/>
            </a:srgbClr>
          </a:solidFill>
          <a:ln w="25400">
            <a:solidFill>
              <a:srgbClr val="1C3C95">
                <a:alpha val="7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6455664"/>
            <a:ext cx="11173968" cy="0"/>
          </a:xfrm>
          <a:prstGeom prst="line">
            <a:avLst/>
          </a:prstGeom>
          <a:noFill/>
          <a:ln w="10160">
            <a:solidFill>
              <a:srgbClr val="22345C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530352" y="292608"/>
            <a:ext cx="2432304" cy="292608"/>
          </a:xfrm>
          <a:prstGeom prst="roundRect">
            <a:avLst>
              <a:gd name="adj" fmla="val 37500"/>
            </a:avLst>
          </a:prstGeom>
          <a:solidFill>
            <a:srgbClr val="102554"/>
          </a:solidFill>
          <a:ln w="11430">
            <a:solidFill>
              <a:srgbClr val="4263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292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PROJECT  TASKCANVAS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65408" y="329184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7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09</a:t>
            </a:r>
            <a:endParaRPr lang="en-US" sz="1270" dirty="0"/>
          </a:p>
        </p:txBody>
      </p:sp>
      <p:sp>
        <p:nvSpPr>
          <p:cNvPr id="25" name="Text 23"/>
          <p:cNvSpPr/>
          <p:nvPr/>
        </p:nvSpPr>
        <p:spPr>
          <a:xfrm>
            <a:off x="566928" y="832104"/>
            <a:ext cx="11045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팀원 ① 프론트엔드 개발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585216" y="147218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화이트보드의 모든 조작과 사용자 화면을 만드는 역할</a:t>
            </a:r>
            <a:endParaRPr lang="en-US" sz="1360" dirty="0"/>
          </a:p>
        </p:txBody>
      </p:sp>
      <p:sp>
        <p:nvSpPr>
          <p:cNvPr id="27" name="Shape 25"/>
          <p:cNvSpPr/>
          <p:nvPr/>
        </p:nvSpPr>
        <p:spPr>
          <a:xfrm>
            <a:off x="585216" y="1851660"/>
            <a:ext cx="658368" cy="36576"/>
          </a:xfrm>
          <a:prstGeom prst="rect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6547104"/>
            <a:ext cx="6217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8292B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· 3주 · WEB SERVER TEAM PROJECT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621792" y="2075688"/>
            <a:ext cx="4873752" cy="3803904"/>
          </a:xfrm>
          <a:prstGeom prst="roundRect">
            <a:avLst>
              <a:gd name="adj" fmla="val 2885"/>
            </a:avLst>
          </a:prstGeom>
          <a:solidFill>
            <a:srgbClr val="121F43"/>
          </a:solidFill>
          <a:ln w="11430">
            <a:solidFill>
              <a:srgbClr val="385C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2340864"/>
            <a:ext cx="4572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주요 담당 업무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923544" y="2761488"/>
            <a:ext cx="301752" cy="301752"/>
          </a:xfrm>
          <a:prstGeom prst="ellipse">
            <a:avLst/>
          </a:prstGeom>
          <a:solidFill>
            <a:srgbClr val="10365D"/>
          </a:solidFill>
          <a:ln w="12700">
            <a:solidFill>
              <a:srgbClr val="67DD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4692" y="2807208"/>
            <a:ext cx="219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1362456" y="27523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화이트보드 레이아웃·툴바 제작</a:t>
            </a:r>
            <a:endParaRPr lang="en-US" sz="1310" dirty="0"/>
          </a:p>
        </p:txBody>
      </p:sp>
      <p:sp>
        <p:nvSpPr>
          <p:cNvPr id="34" name="Shape 32"/>
          <p:cNvSpPr/>
          <p:nvPr/>
        </p:nvSpPr>
        <p:spPr>
          <a:xfrm>
            <a:off x="923544" y="3300984"/>
            <a:ext cx="301752" cy="301752"/>
          </a:xfrm>
          <a:prstGeom prst="ellipse">
            <a:avLst/>
          </a:prstGeom>
          <a:solidFill>
            <a:srgbClr val="2A2758"/>
          </a:solidFill>
          <a:ln w="12700">
            <a:solidFill>
              <a:srgbClr val="A98B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4692" y="3346704"/>
            <a:ext cx="219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1040" dirty="0"/>
          </a:p>
        </p:txBody>
      </p:sp>
      <p:sp>
        <p:nvSpPr>
          <p:cNvPr id="36" name="Text 34"/>
          <p:cNvSpPr/>
          <p:nvPr/>
        </p:nvSpPr>
        <p:spPr>
          <a:xfrm>
            <a:off x="1362456" y="3291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펜·도형·텍스트 및 객체 이동</a:t>
            </a:r>
            <a:endParaRPr lang="en-US" sz="1310" dirty="0"/>
          </a:p>
        </p:txBody>
      </p:sp>
      <p:sp>
        <p:nvSpPr>
          <p:cNvPr id="37" name="Shape 35"/>
          <p:cNvSpPr/>
          <p:nvPr/>
        </p:nvSpPr>
        <p:spPr>
          <a:xfrm>
            <a:off x="923544" y="3840480"/>
            <a:ext cx="301752" cy="301752"/>
          </a:xfrm>
          <a:prstGeom prst="ellipse">
            <a:avLst/>
          </a:prstGeom>
          <a:solidFill>
            <a:srgbClr val="10365D"/>
          </a:solidFill>
          <a:ln w="12700">
            <a:solidFill>
              <a:srgbClr val="67DD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4692" y="3886200"/>
            <a:ext cx="219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1040" dirty="0"/>
          </a:p>
        </p:txBody>
      </p:sp>
      <p:sp>
        <p:nvSpPr>
          <p:cNvPr id="39" name="Text 37"/>
          <p:cNvSpPr/>
          <p:nvPr/>
        </p:nvSpPr>
        <p:spPr>
          <a:xfrm>
            <a:off x="1362456" y="38313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다중 선택·오른쪽 속성 패널</a:t>
            </a:r>
            <a:endParaRPr lang="en-US" sz="1310" dirty="0"/>
          </a:p>
        </p:txBody>
      </p:sp>
      <p:sp>
        <p:nvSpPr>
          <p:cNvPr id="40" name="Shape 38"/>
          <p:cNvSpPr/>
          <p:nvPr/>
        </p:nvSpPr>
        <p:spPr>
          <a:xfrm>
            <a:off x="923544" y="4379976"/>
            <a:ext cx="301752" cy="301752"/>
          </a:xfrm>
          <a:prstGeom prst="ellipse">
            <a:avLst/>
          </a:prstGeom>
          <a:solidFill>
            <a:srgbClr val="2A2758"/>
          </a:solidFill>
          <a:ln w="12700">
            <a:solidFill>
              <a:srgbClr val="A98B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4692" y="4425696"/>
            <a:ext cx="219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</a:t>
            </a:r>
            <a:endParaRPr lang="en-US" sz="1040" dirty="0"/>
          </a:p>
        </p:txBody>
      </p:sp>
      <p:sp>
        <p:nvSpPr>
          <p:cNvPr id="42" name="Text 40"/>
          <p:cNvSpPr/>
          <p:nvPr/>
        </p:nvSpPr>
        <p:spPr>
          <a:xfrm>
            <a:off x="1362456" y="43708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이미지·영상·파일 표시 UI</a:t>
            </a:r>
            <a:endParaRPr lang="en-US" sz="1310" dirty="0"/>
          </a:p>
        </p:txBody>
      </p:sp>
      <p:sp>
        <p:nvSpPr>
          <p:cNvPr id="43" name="Shape 41"/>
          <p:cNvSpPr/>
          <p:nvPr/>
        </p:nvSpPr>
        <p:spPr>
          <a:xfrm>
            <a:off x="914400" y="5202936"/>
            <a:ext cx="4279392" cy="0"/>
          </a:xfrm>
          <a:prstGeom prst="line">
            <a:avLst/>
          </a:prstGeom>
          <a:noFill/>
          <a:ln w="12700">
            <a:solidFill>
              <a:srgbClr val="3E5991"/>
            </a:solidFill>
            <a:prstDash val="solid"/>
            <a:headEnd type="none"/>
            <a:tailEnd type="none"/>
          </a:ln>
        </p:spPr>
      </p:sp>
      <p:sp>
        <p:nvSpPr>
          <p:cNvPr id="44" name="Text 42"/>
          <p:cNvSpPr/>
          <p:nvPr/>
        </p:nvSpPr>
        <p:spPr>
          <a:xfrm>
            <a:off x="905256" y="5385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 기술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956816" y="536752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HTML / CSS / JavaScript / Konva.js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692140" y="2144268"/>
            <a:ext cx="5879592" cy="3364992"/>
          </a:xfrm>
          <a:prstGeom prst="roundRect">
            <a:avLst>
              <a:gd name="adj" fmla="val 3804"/>
            </a:avLst>
          </a:prstGeom>
          <a:solidFill>
            <a:srgbClr val="111D44"/>
          </a:solidFill>
          <a:ln w="11430">
            <a:solidFill>
              <a:srgbClr val="3B64B6"/>
            </a:solidFill>
            <a:prstDash val="solid"/>
          </a:ln>
        </p:spPr>
      </p:sp>
      <p:pic>
        <p:nvPicPr>
          <p:cNvPr id="47" name="Image 0" descr="/mnt/data/_taskcanvas_build/assets/role_front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2194560"/>
            <a:ext cx="5779008" cy="3264408"/>
          </a:xfrm>
          <a:prstGeom prst="rect">
            <a:avLst/>
          </a:prstGeom>
        </p:spPr>
      </p:pic>
      <p:sp>
        <p:nvSpPr>
          <p:cNvPr id="48" name="Shape 45"/>
          <p:cNvSpPr/>
          <p:nvPr/>
        </p:nvSpPr>
        <p:spPr>
          <a:xfrm>
            <a:off x="5788152" y="5577840"/>
            <a:ext cx="5696712" cy="603504"/>
          </a:xfrm>
          <a:prstGeom prst="roundRect">
            <a:avLst>
              <a:gd name="adj" fmla="val 18182"/>
            </a:avLst>
          </a:prstGeom>
          <a:solidFill>
            <a:srgbClr val="112447"/>
          </a:solidFill>
          <a:ln w="11430">
            <a:solidFill>
              <a:srgbClr val="335A9E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998464" y="5678424"/>
            <a:ext cx="1188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완료 산출물</a:t>
            </a:r>
            <a:endParaRPr lang="en-US" sz="1140" dirty="0"/>
          </a:p>
        </p:txBody>
      </p:sp>
      <p:sp>
        <p:nvSpPr>
          <p:cNvPr id="50" name="Text 47"/>
          <p:cNvSpPr/>
          <p:nvPr/>
        </p:nvSpPr>
        <p:spPr>
          <a:xfrm>
            <a:off x="7187184" y="565099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사용자가 편집할 수 있는 보드 UI</a:t>
            </a:r>
            <a:endParaRPr lang="en-US" sz="1180" dirty="0"/>
          </a:p>
        </p:txBody>
      </p:sp>
      <p:sp>
        <p:nvSpPr>
          <p:cNvPr id="51" name="Text 48"/>
          <p:cNvSpPr/>
          <p:nvPr/>
        </p:nvSpPr>
        <p:spPr>
          <a:xfrm>
            <a:off x="749808" y="609904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연동 대상: Socket.IO 편집 이벤트 / PHP 파일 API</a:t>
            </a:r>
            <a:endParaRPr lang="en-US" sz="10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36576"/>
            <a:ext cx="4846320" cy="3657600"/>
          </a:xfrm>
          <a:prstGeom prst="ellipse">
            <a:avLst/>
          </a:prstGeom>
          <a:solidFill>
            <a:srgbClr val="10357F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0"/>
            <a:ext cx="3566160" cy="3840480"/>
          </a:xfrm>
          <a:prstGeom prst="ellipse">
            <a:avLst/>
          </a:prstGeom>
          <a:solidFill>
            <a:srgbClr val="362267">
              <a:alpha val="2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1381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7325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2688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92124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5156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1099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7043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543800" y="320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543800" y="1005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543800" y="16916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543800" y="23774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543800" y="30632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543800" y="3749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543800" y="4434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rot="300000">
            <a:off x="137160" y="6053328"/>
            <a:ext cx="5074920" cy="731520"/>
          </a:xfrm>
          <a:prstGeom prst="arc">
            <a:avLst/>
          </a:prstGeom>
          <a:solidFill>
            <a:srgbClr val="07102A">
              <a:alpha val="0"/>
            </a:srgbClr>
          </a:solidFill>
          <a:ln w="25400">
            <a:solidFill>
              <a:srgbClr val="1C3C95">
                <a:alpha val="7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6455664"/>
            <a:ext cx="11173968" cy="0"/>
          </a:xfrm>
          <a:prstGeom prst="line">
            <a:avLst/>
          </a:prstGeom>
          <a:noFill/>
          <a:ln w="10160">
            <a:solidFill>
              <a:srgbClr val="22345C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530352" y="292608"/>
            <a:ext cx="2432304" cy="292608"/>
          </a:xfrm>
          <a:prstGeom prst="roundRect">
            <a:avLst>
              <a:gd name="adj" fmla="val 37500"/>
            </a:avLst>
          </a:prstGeom>
          <a:solidFill>
            <a:srgbClr val="102554"/>
          </a:solidFill>
          <a:ln w="11430">
            <a:solidFill>
              <a:srgbClr val="4263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292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PROJECT  TASKCANVAS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65408" y="329184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7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</a:t>
            </a:r>
            <a:endParaRPr lang="en-US" sz="1270" dirty="0"/>
          </a:p>
        </p:txBody>
      </p:sp>
      <p:sp>
        <p:nvSpPr>
          <p:cNvPr id="25" name="Text 23"/>
          <p:cNvSpPr/>
          <p:nvPr/>
        </p:nvSpPr>
        <p:spPr>
          <a:xfrm>
            <a:off x="566928" y="832104"/>
            <a:ext cx="11045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팀원 ② 실시간 서버 개발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585216" y="147218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4대 PC에서 변경을 즉시 공유하고 충돌을 막는 역할</a:t>
            </a:r>
            <a:endParaRPr lang="en-US" sz="1360" dirty="0"/>
          </a:p>
        </p:txBody>
      </p:sp>
      <p:sp>
        <p:nvSpPr>
          <p:cNvPr id="27" name="Shape 25"/>
          <p:cNvSpPr/>
          <p:nvPr/>
        </p:nvSpPr>
        <p:spPr>
          <a:xfrm>
            <a:off x="585216" y="1851660"/>
            <a:ext cx="658368" cy="36576"/>
          </a:xfrm>
          <a:prstGeom prst="rect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6547104"/>
            <a:ext cx="6217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8292B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· 3주 · WEB SERVER TEAM PROJECT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621792" y="2075688"/>
            <a:ext cx="4873752" cy="3803904"/>
          </a:xfrm>
          <a:prstGeom prst="roundRect">
            <a:avLst>
              <a:gd name="adj" fmla="val 2885"/>
            </a:avLst>
          </a:prstGeom>
          <a:solidFill>
            <a:srgbClr val="121F43"/>
          </a:solidFill>
          <a:ln w="11430">
            <a:solidFill>
              <a:srgbClr val="385C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2340864"/>
            <a:ext cx="4572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주요 담당 업무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923544" y="2761488"/>
            <a:ext cx="301752" cy="301752"/>
          </a:xfrm>
          <a:prstGeom prst="ellipse">
            <a:avLst/>
          </a:prstGeom>
          <a:solidFill>
            <a:srgbClr val="10365D"/>
          </a:solidFill>
          <a:ln w="12700">
            <a:solidFill>
              <a:srgbClr val="67DD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4692" y="2807208"/>
            <a:ext cx="219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1362456" y="27523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Socket.IO 방 생성·참여자 관리</a:t>
            </a:r>
            <a:endParaRPr lang="en-US" sz="1310" dirty="0"/>
          </a:p>
        </p:txBody>
      </p:sp>
      <p:sp>
        <p:nvSpPr>
          <p:cNvPr id="34" name="Shape 32"/>
          <p:cNvSpPr/>
          <p:nvPr/>
        </p:nvSpPr>
        <p:spPr>
          <a:xfrm>
            <a:off x="923544" y="3300984"/>
            <a:ext cx="301752" cy="301752"/>
          </a:xfrm>
          <a:prstGeom prst="ellipse">
            <a:avLst/>
          </a:prstGeom>
          <a:solidFill>
            <a:srgbClr val="2A2758"/>
          </a:solidFill>
          <a:ln w="12700">
            <a:solidFill>
              <a:srgbClr val="A98B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4692" y="3346704"/>
            <a:ext cx="219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1040" dirty="0"/>
          </a:p>
        </p:txBody>
      </p:sp>
      <p:sp>
        <p:nvSpPr>
          <p:cNvPr id="36" name="Text 34"/>
          <p:cNvSpPr/>
          <p:nvPr/>
        </p:nvSpPr>
        <p:spPr>
          <a:xfrm>
            <a:off x="1362456" y="3291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실시간 커서 및 펜 획 전달</a:t>
            </a:r>
            <a:endParaRPr lang="en-US" sz="1310" dirty="0"/>
          </a:p>
        </p:txBody>
      </p:sp>
      <p:sp>
        <p:nvSpPr>
          <p:cNvPr id="37" name="Shape 35"/>
          <p:cNvSpPr/>
          <p:nvPr/>
        </p:nvSpPr>
        <p:spPr>
          <a:xfrm>
            <a:off x="923544" y="3840480"/>
            <a:ext cx="301752" cy="301752"/>
          </a:xfrm>
          <a:prstGeom prst="ellipse">
            <a:avLst/>
          </a:prstGeom>
          <a:solidFill>
            <a:srgbClr val="10365D"/>
          </a:solidFill>
          <a:ln w="12700">
            <a:solidFill>
              <a:srgbClr val="67DD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4692" y="3886200"/>
            <a:ext cx="219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1040" dirty="0"/>
          </a:p>
        </p:txBody>
      </p:sp>
      <p:sp>
        <p:nvSpPr>
          <p:cNvPr id="39" name="Text 37"/>
          <p:cNvSpPr/>
          <p:nvPr/>
        </p:nvSpPr>
        <p:spPr>
          <a:xfrm>
            <a:off x="1362456" y="38313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객체별 잠금·해제·만료 처리</a:t>
            </a:r>
            <a:endParaRPr lang="en-US" sz="1310" dirty="0"/>
          </a:p>
        </p:txBody>
      </p:sp>
      <p:sp>
        <p:nvSpPr>
          <p:cNvPr id="40" name="Shape 38"/>
          <p:cNvSpPr/>
          <p:nvPr/>
        </p:nvSpPr>
        <p:spPr>
          <a:xfrm>
            <a:off x="923544" y="4379976"/>
            <a:ext cx="301752" cy="301752"/>
          </a:xfrm>
          <a:prstGeom prst="ellipse">
            <a:avLst/>
          </a:prstGeom>
          <a:solidFill>
            <a:srgbClr val="2A2758"/>
          </a:solidFill>
          <a:ln w="12700">
            <a:solidFill>
              <a:srgbClr val="A98B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4692" y="4425696"/>
            <a:ext cx="219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</a:t>
            </a:r>
            <a:endParaRPr lang="en-US" sz="1040" dirty="0"/>
          </a:p>
        </p:txBody>
      </p:sp>
      <p:sp>
        <p:nvSpPr>
          <p:cNvPr id="42" name="Text 40"/>
          <p:cNvSpPr/>
          <p:nvPr/>
        </p:nvSpPr>
        <p:spPr>
          <a:xfrm>
            <a:off x="1362456" y="43708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변경 확정 이벤트·DB 저장 연계</a:t>
            </a:r>
            <a:endParaRPr lang="en-US" sz="1310" dirty="0"/>
          </a:p>
        </p:txBody>
      </p:sp>
      <p:sp>
        <p:nvSpPr>
          <p:cNvPr id="43" name="Shape 41"/>
          <p:cNvSpPr/>
          <p:nvPr/>
        </p:nvSpPr>
        <p:spPr>
          <a:xfrm>
            <a:off x="914400" y="5202936"/>
            <a:ext cx="4279392" cy="0"/>
          </a:xfrm>
          <a:prstGeom prst="line">
            <a:avLst/>
          </a:prstGeom>
          <a:noFill/>
          <a:ln w="12700">
            <a:solidFill>
              <a:srgbClr val="3E5991"/>
            </a:solidFill>
            <a:prstDash val="solid"/>
            <a:headEnd type="none"/>
            <a:tailEnd type="none"/>
          </a:ln>
        </p:spPr>
      </p:sp>
      <p:sp>
        <p:nvSpPr>
          <p:cNvPr id="44" name="Text 42"/>
          <p:cNvSpPr/>
          <p:nvPr/>
        </p:nvSpPr>
        <p:spPr>
          <a:xfrm>
            <a:off x="905256" y="5385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 기술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956816" y="536752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Node.js / Socket.IO / JavaScript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692140" y="2144268"/>
            <a:ext cx="5879592" cy="3364992"/>
          </a:xfrm>
          <a:prstGeom prst="roundRect">
            <a:avLst>
              <a:gd name="adj" fmla="val 3804"/>
            </a:avLst>
          </a:prstGeom>
          <a:solidFill>
            <a:srgbClr val="111D44"/>
          </a:solidFill>
          <a:ln w="11430">
            <a:solidFill>
              <a:srgbClr val="3B64B6"/>
            </a:solidFill>
            <a:prstDash val="solid"/>
          </a:ln>
        </p:spPr>
      </p:sp>
      <p:pic>
        <p:nvPicPr>
          <p:cNvPr id="47" name="Image 0" descr="/mnt/data/_taskcanvas_build/assets/role_real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2194560"/>
            <a:ext cx="5779008" cy="3264408"/>
          </a:xfrm>
          <a:prstGeom prst="rect">
            <a:avLst/>
          </a:prstGeom>
        </p:spPr>
      </p:pic>
      <p:sp>
        <p:nvSpPr>
          <p:cNvPr id="48" name="Shape 45"/>
          <p:cNvSpPr/>
          <p:nvPr/>
        </p:nvSpPr>
        <p:spPr>
          <a:xfrm>
            <a:off x="5788152" y="5577840"/>
            <a:ext cx="5696712" cy="603504"/>
          </a:xfrm>
          <a:prstGeom prst="roundRect">
            <a:avLst>
              <a:gd name="adj" fmla="val 18182"/>
            </a:avLst>
          </a:prstGeom>
          <a:solidFill>
            <a:srgbClr val="112447"/>
          </a:solidFill>
          <a:ln w="11430">
            <a:solidFill>
              <a:srgbClr val="335A9E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998464" y="5678424"/>
            <a:ext cx="1188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완료 산출물</a:t>
            </a:r>
            <a:endParaRPr lang="en-US" sz="1140" dirty="0"/>
          </a:p>
        </p:txBody>
      </p:sp>
      <p:sp>
        <p:nvSpPr>
          <p:cNvPr id="50" name="Text 47"/>
          <p:cNvSpPr/>
          <p:nvPr/>
        </p:nvSpPr>
        <p:spPr>
          <a:xfrm>
            <a:off x="7187184" y="565099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동시 편집·잠금·동기화 동작</a:t>
            </a:r>
            <a:endParaRPr lang="en-US" sz="1180" dirty="0"/>
          </a:p>
        </p:txBody>
      </p:sp>
      <p:sp>
        <p:nvSpPr>
          <p:cNvPr id="51" name="Text 48"/>
          <p:cNvSpPr/>
          <p:nvPr/>
        </p:nvSpPr>
        <p:spPr>
          <a:xfrm>
            <a:off x="749808" y="609904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연동 대상: 프론트 이벤트 규격 / PHP 인증 / DB 저장</a:t>
            </a:r>
            <a:endParaRPr lang="en-US" sz="10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36576"/>
            <a:ext cx="4846320" cy="3657600"/>
          </a:xfrm>
          <a:prstGeom prst="ellipse">
            <a:avLst/>
          </a:prstGeom>
          <a:solidFill>
            <a:srgbClr val="10357F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0"/>
            <a:ext cx="3566160" cy="3840480"/>
          </a:xfrm>
          <a:prstGeom prst="ellipse">
            <a:avLst/>
          </a:prstGeom>
          <a:solidFill>
            <a:srgbClr val="362267">
              <a:alpha val="2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1381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7325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2688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92124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5156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1099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7043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543800" y="320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543800" y="1005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543800" y="16916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543800" y="23774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543800" y="30632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543800" y="3749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543800" y="4434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rot="300000">
            <a:off x="137160" y="6053328"/>
            <a:ext cx="5074920" cy="731520"/>
          </a:xfrm>
          <a:prstGeom prst="arc">
            <a:avLst/>
          </a:prstGeom>
          <a:solidFill>
            <a:srgbClr val="07102A">
              <a:alpha val="0"/>
            </a:srgbClr>
          </a:solidFill>
          <a:ln w="25400">
            <a:solidFill>
              <a:srgbClr val="1C3C95">
                <a:alpha val="7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6455664"/>
            <a:ext cx="11173968" cy="0"/>
          </a:xfrm>
          <a:prstGeom prst="line">
            <a:avLst/>
          </a:prstGeom>
          <a:noFill/>
          <a:ln w="10160">
            <a:solidFill>
              <a:srgbClr val="22345C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530352" y="292608"/>
            <a:ext cx="2432304" cy="292608"/>
          </a:xfrm>
          <a:prstGeom prst="roundRect">
            <a:avLst>
              <a:gd name="adj" fmla="val 37500"/>
            </a:avLst>
          </a:prstGeom>
          <a:solidFill>
            <a:srgbClr val="102554"/>
          </a:solidFill>
          <a:ln w="11430">
            <a:solidFill>
              <a:srgbClr val="4263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292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PROJECT  TASKCANVAS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65408" y="329184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7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11</a:t>
            </a:r>
            <a:endParaRPr lang="en-US" sz="1270" dirty="0"/>
          </a:p>
        </p:txBody>
      </p:sp>
      <p:sp>
        <p:nvSpPr>
          <p:cNvPr id="25" name="Text 23"/>
          <p:cNvSpPr/>
          <p:nvPr/>
        </p:nvSpPr>
        <p:spPr>
          <a:xfrm>
            <a:off x="566928" y="832104"/>
            <a:ext cx="11045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팀원 ③ 백엔드 · DB 개발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585216" y="147218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계정과 프로젝트, 보드 데이터의 보관·권한을 책임지는 역할</a:t>
            </a:r>
            <a:endParaRPr lang="en-US" sz="1360" dirty="0"/>
          </a:p>
        </p:txBody>
      </p:sp>
      <p:sp>
        <p:nvSpPr>
          <p:cNvPr id="27" name="Shape 25"/>
          <p:cNvSpPr/>
          <p:nvPr/>
        </p:nvSpPr>
        <p:spPr>
          <a:xfrm>
            <a:off x="585216" y="1851660"/>
            <a:ext cx="658368" cy="36576"/>
          </a:xfrm>
          <a:prstGeom prst="rect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6547104"/>
            <a:ext cx="6217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8292B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· 3주 · WEB SERVER TEAM PROJECT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621792" y="2075688"/>
            <a:ext cx="4873752" cy="3803904"/>
          </a:xfrm>
          <a:prstGeom prst="roundRect">
            <a:avLst>
              <a:gd name="adj" fmla="val 2885"/>
            </a:avLst>
          </a:prstGeom>
          <a:solidFill>
            <a:srgbClr val="121F43"/>
          </a:solidFill>
          <a:ln w="11430">
            <a:solidFill>
              <a:srgbClr val="385C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2340864"/>
            <a:ext cx="4572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주요 담당 업무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923544" y="2761488"/>
            <a:ext cx="301752" cy="301752"/>
          </a:xfrm>
          <a:prstGeom prst="ellipse">
            <a:avLst/>
          </a:prstGeom>
          <a:solidFill>
            <a:srgbClr val="10365D"/>
          </a:solidFill>
          <a:ln w="12700">
            <a:solidFill>
              <a:srgbClr val="67DD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4692" y="2807208"/>
            <a:ext cx="219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1362456" y="27523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로그인·프로젝트·보드 CRUD API</a:t>
            </a:r>
            <a:endParaRPr lang="en-US" sz="1310" dirty="0"/>
          </a:p>
        </p:txBody>
      </p:sp>
      <p:sp>
        <p:nvSpPr>
          <p:cNvPr id="34" name="Shape 32"/>
          <p:cNvSpPr/>
          <p:nvPr/>
        </p:nvSpPr>
        <p:spPr>
          <a:xfrm>
            <a:off x="923544" y="3300984"/>
            <a:ext cx="301752" cy="301752"/>
          </a:xfrm>
          <a:prstGeom prst="ellipse">
            <a:avLst/>
          </a:prstGeom>
          <a:solidFill>
            <a:srgbClr val="2A2758"/>
          </a:solidFill>
          <a:ln w="12700">
            <a:solidFill>
              <a:srgbClr val="A98B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4692" y="3346704"/>
            <a:ext cx="219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1040" dirty="0"/>
          </a:p>
        </p:txBody>
      </p:sp>
      <p:sp>
        <p:nvSpPr>
          <p:cNvPr id="36" name="Text 34"/>
          <p:cNvSpPr/>
          <p:nvPr/>
        </p:nvSpPr>
        <p:spPr>
          <a:xfrm>
            <a:off x="1362456" y="3291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MySQL 테이블·관계 구조 설계</a:t>
            </a:r>
            <a:endParaRPr lang="en-US" sz="1310" dirty="0"/>
          </a:p>
        </p:txBody>
      </p:sp>
      <p:sp>
        <p:nvSpPr>
          <p:cNvPr id="37" name="Shape 35"/>
          <p:cNvSpPr/>
          <p:nvPr/>
        </p:nvSpPr>
        <p:spPr>
          <a:xfrm>
            <a:off x="923544" y="3840480"/>
            <a:ext cx="301752" cy="301752"/>
          </a:xfrm>
          <a:prstGeom prst="ellipse">
            <a:avLst/>
          </a:prstGeom>
          <a:solidFill>
            <a:srgbClr val="10365D"/>
          </a:solidFill>
          <a:ln w="12700">
            <a:solidFill>
              <a:srgbClr val="67DD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4692" y="3886200"/>
            <a:ext cx="219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1040" dirty="0"/>
          </a:p>
        </p:txBody>
      </p:sp>
      <p:sp>
        <p:nvSpPr>
          <p:cNvPr id="39" name="Text 37"/>
          <p:cNvSpPr/>
          <p:nvPr/>
        </p:nvSpPr>
        <p:spPr>
          <a:xfrm>
            <a:off x="1362456" y="38313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권한 검증·초대 링크 및 코드</a:t>
            </a:r>
            <a:endParaRPr lang="en-US" sz="1310" dirty="0"/>
          </a:p>
        </p:txBody>
      </p:sp>
      <p:sp>
        <p:nvSpPr>
          <p:cNvPr id="40" name="Shape 38"/>
          <p:cNvSpPr/>
          <p:nvPr/>
        </p:nvSpPr>
        <p:spPr>
          <a:xfrm>
            <a:off x="923544" y="4379976"/>
            <a:ext cx="301752" cy="301752"/>
          </a:xfrm>
          <a:prstGeom prst="ellipse">
            <a:avLst/>
          </a:prstGeom>
          <a:solidFill>
            <a:srgbClr val="2A2758"/>
          </a:solidFill>
          <a:ln w="12700">
            <a:solidFill>
              <a:srgbClr val="A98B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4692" y="4425696"/>
            <a:ext cx="219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</a:t>
            </a:r>
            <a:endParaRPr lang="en-US" sz="1040" dirty="0"/>
          </a:p>
        </p:txBody>
      </p:sp>
      <p:sp>
        <p:nvSpPr>
          <p:cNvPr id="42" name="Text 40"/>
          <p:cNvSpPr/>
          <p:nvPr/>
        </p:nvSpPr>
        <p:spPr>
          <a:xfrm>
            <a:off x="1362456" y="43708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파일 업로드·보드 내용 복원</a:t>
            </a:r>
            <a:endParaRPr lang="en-US" sz="1310" dirty="0"/>
          </a:p>
        </p:txBody>
      </p:sp>
      <p:sp>
        <p:nvSpPr>
          <p:cNvPr id="43" name="Shape 41"/>
          <p:cNvSpPr/>
          <p:nvPr/>
        </p:nvSpPr>
        <p:spPr>
          <a:xfrm>
            <a:off x="914400" y="5202936"/>
            <a:ext cx="4279392" cy="0"/>
          </a:xfrm>
          <a:prstGeom prst="line">
            <a:avLst/>
          </a:prstGeom>
          <a:noFill/>
          <a:ln w="12700">
            <a:solidFill>
              <a:srgbClr val="3E5991"/>
            </a:solidFill>
            <a:prstDash val="solid"/>
            <a:headEnd type="none"/>
            <a:tailEnd type="none"/>
          </a:ln>
        </p:spPr>
      </p:sp>
      <p:sp>
        <p:nvSpPr>
          <p:cNvPr id="44" name="Text 42"/>
          <p:cNvSpPr/>
          <p:nvPr/>
        </p:nvSpPr>
        <p:spPr>
          <a:xfrm>
            <a:off x="905256" y="5385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 기술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956816" y="536752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PHP / Apache(XAMPP) / MySQL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692140" y="2144268"/>
            <a:ext cx="5879592" cy="3364992"/>
          </a:xfrm>
          <a:prstGeom prst="roundRect">
            <a:avLst>
              <a:gd name="adj" fmla="val 3804"/>
            </a:avLst>
          </a:prstGeom>
          <a:solidFill>
            <a:srgbClr val="111D44"/>
          </a:solidFill>
          <a:ln w="11430">
            <a:solidFill>
              <a:srgbClr val="3B64B6"/>
            </a:solidFill>
            <a:prstDash val="solid"/>
          </a:ln>
        </p:spPr>
      </p:sp>
      <p:pic>
        <p:nvPicPr>
          <p:cNvPr id="47" name="Image 0" descr="/mnt/data/_taskcanvas_build/assets/role_back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2194560"/>
            <a:ext cx="5779008" cy="3264408"/>
          </a:xfrm>
          <a:prstGeom prst="rect">
            <a:avLst/>
          </a:prstGeom>
        </p:spPr>
      </p:pic>
      <p:sp>
        <p:nvSpPr>
          <p:cNvPr id="48" name="Shape 45"/>
          <p:cNvSpPr/>
          <p:nvPr/>
        </p:nvSpPr>
        <p:spPr>
          <a:xfrm>
            <a:off x="5788152" y="5577840"/>
            <a:ext cx="5696712" cy="603504"/>
          </a:xfrm>
          <a:prstGeom prst="roundRect">
            <a:avLst>
              <a:gd name="adj" fmla="val 18182"/>
            </a:avLst>
          </a:prstGeom>
          <a:solidFill>
            <a:srgbClr val="112447"/>
          </a:solidFill>
          <a:ln w="11430">
            <a:solidFill>
              <a:srgbClr val="335A9E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998464" y="5678424"/>
            <a:ext cx="1188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완료 산출물</a:t>
            </a:r>
            <a:endParaRPr lang="en-US" sz="1140" dirty="0"/>
          </a:p>
        </p:txBody>
      </p:sp>
      <p:sp>
        <p:nvSpPr>
          <p:cNvPr id="50" name="Text 47"/>
          <p:cNvSpPr/>
          <p:nvPr/>
        </p:nvSpPr>
        <p:spPr>
          <a:xfrm>
            <a:off x="7187184" y="565099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저장·조회·권한·업로드 기능</a:t>
            </a:r>
            <a:endParaRPr lang="en-US" sz="1180" dirty="0"/>
          </a:p>
        </p:txBody>
      </p:sp>
      <p:sp>
        <p:nvSpPr>
          <p:cNvPr id="51" name="Text 48"/>
          <p:cNvSpPr/>
          <p:nvPr/>
        </p:nvSpPr>
        <p:spPr>
          <a:xfrm>
            <a:off x="749808" y="609904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연동 대상: Node 변경 확정 API / 프론트 데이터 요청</a:t>
            </a:r>
            <a:endParaRPr lang="en-US" sz="10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36576"/>
            <a:ext cx="4846320" cy="3657600"/>
          </a:xfrm>
          <a:prstGeom prst="ellipse">
            <a:avLst/>
          </a:prstGeom>
          <a:solidFill>
            <a:srgbClr val="10357F">
              <a:alpha val="1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0"/>
            <a:ext cx="3566160" cy="3840480"/>
          </a:xfrm>
          <a:prstGeom prst="ellipse">
            <a:avLst/>
          </a:prstGeom>
          <a:solidFill>
            <a:srgbClr val="362267">
              <a:alpha val="2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1381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7325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2688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92124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51560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10996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704320" y="182880"/>
            <a:ext cx="0" cy="6163056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543800" y="320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543800" y="1005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543800" y="16916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543800" y="23774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543800" y="30632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543800" y="37490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543800" y="4434840"/>
            <a:ext cx="4434840" cy="0"/>
          </a:xfrm>
          <a:prstGeom prst="line">
            <a:avLst/>
          </a:prstGeom>
          <a:noFill/>
          <a:ln w="3556">
            <a:solidFill>
              <a:srgbClr val="1527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rot="300000">
            <a:off x="137160" y="6053328"/>
            <a:ext cx="5074920" cy="731520"/>
          </a:xfrm>
          <a:prstGeom prst="arc">
            <a:avLst/>
          </a:prstGeom>
          <a:solidFill>
            <a:srgbClr val="07102A">
              <a:alpha val="0"/>
            </a:srgbClr>
          </a:solidFill>
          <a:ln w="25400">
            <a:solidFill>
              <a:srgbClr val="1C3C95">
                <a:alpha val="7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6455664"/>
            <a:ext cx="11173968" cy="0"/>
          </a:xfrm>
          <a:prstGeom prst="line">
            <a:avLst/>
          </a:prstGeom>
          <a:noFill/>
          <a:ln w="10160">
            <a:solidFill>
              <a:srgbClr val="22345C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530352" y="292608"/>
            <a:ext cx="2432304" cy="292608"/>
          </a:xfrm>
          <a:prstGeom prst="roundRect">
            <a:avLst>
              <a:gd name="adj" fmla="val 37500"/>
            </a:avLst>
          </a:prstGeom>
          <a:solidFill>
            <a:srgbClr val="102554"/>
          </a:solidFill>
          <a:ln w="11430">
            <a:solidFill>
              <a:srgbClr val="4263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292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PROJECT  TASKCANVAS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65408" y="329184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7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12</a:t>
            </a:r>
            <a:endParaRPr lang="en-US" sz="1270" dirty="0"/>
          </a:p>
        </p:txBody>
      </p:sp>
      <p:sp>
        <p:nvSpPr>
          <p:cNvPr id="25" name="Text 23"/>
          <p:cNvSpPr/>
          <p:nvPr/>
        </p:nvSpPr>
        <p:spPr>
          <a:xfrm>
            <a:off x="566928" y="832104"/>
            <a:ext cx="11045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3주 개발 계획과 시연 목표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585216" y="147218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기능을 먼저 완성하고, 마지막 주에는 안정화를 우선</a:t>
            </a:r>
            <a:endParaRPr lang="en-US" sz="1360" dirty="0"/>
          </a:p>
        </p:txBody>
      </p:sp>
      <p:sp>
        <p:nvSpPr>
          <p:cNvPr id="27" name="Shape 25"/>
          <p:cNvSpPr/>
          <p:nvPr/>
        </p:nvSpPr>
        <p:spPr>
          <a:xfrm>
            <a:off x="585216" y="1851660"/>
            <a:ext cx="658368" cy="36576"/>
          </a:xfrm>
          <a:prstGeom prst="rect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6547104"/>
            <a:ext cx="6217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8292B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· 3주 · WEB SERVER TEAM PROJECT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594360" y="2148840"/>
            <a:ext cx="3474720" cy="2935224"/>
          </a:xfrm>
          <a:prstGeom prst="roundRect">
            <a:avLst>
              <a:gd name="adj" fmla="val 3738"/>
            </a:avLst>
          </a:prstGeom>
          <a:solidFill>
            <a:srgbClr val="142449"/>
          </a:solidFill>
          <a:ln w="11430">
            <a:solidFill>
              <a:srgbClr val="2C73A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99032" y="2048256"/>
            <a:ext cx="1847088" cy="329184"/>
          </a:xfrm>
          <a:prstGeom prst="roundRect">
            <a:avLst>
              <a:gd name="adj" fmla="val 33333"/>
            </a:avLst>
          </a:prstGeom>
          <a:solidFill>
            <a:srgbClr val="103866"/>
          </a:solidFill>
          <a:ln w="11430">
            <a:solidFill>
              <a:srgbClr val="377CB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72184" y="2048256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1주 차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41248" y="2660904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기반 구축</a:t>
            </a:r>
            <a:endParaRPr lang="en-US" sz="1920" dirty="0"/>
          </a:p>
        </p:txBody>
      </p:sp>
      <p:sp>
        <p:nvSpPr>
          <p:cNvPr id="33" name="Shape 31"/>
          <p:cNvSpPr/>
          <p:nvPr/>
        </p:nvSpPr>
        <p:spPr>
          <a:xfrm>
            <a:off x="859536" y="3419856"/>
            <a:ext cx="64008" cy="64008"/>
          </a:xfrm>
          <a:prstGeom prst="ellipse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3272" y="32735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LAN 4대 접속 확인</a:t>
            </a:r>
            <a:endParaRPr lang="en-US" sz="1160" dirty="0"/>
          </a:p>
        </p:txBody>
      </p:sp>
      <p:sp>
        <p:nvSpPr>
          <p:cNvPr id="35" name="Shape 33"/>
          <p:cNvSpPr/>
          <p:nvPr/>
        </p:nvSpPr>
        <p:spPr>
          <a:xfrm>
            <a:off x="859536" y="3840480"/>
            <a:ext cx="64008" cy="64008"/>
          </a:xfrm>
          <a:prstGeom prst="ellipse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3272" y="36941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프로젝트·보드 생성</a:t>
            </a:r>
            <a:endParaRPr lang="en-US" sz="1160" dirty="0"/>
          </a:p>
        </p:txBody>
      </p:sp>
      <p:sp>
        <p:nvSpPr>
          <p:cNvPr id="37" name="Shape 35"/>
          <p:cNvSpPr/>
          <p:nvPr/>
        </p:nvSpPr>
        <p:spPr>
          <a:xfrm>
            <a:off x="859536" y="4261104"/>
            <a:ext cx="64008" cy="64008"/>
          </a:xfrm>
          <a:prstGeom prst="ellipse">
            <a:avLst/>
          </a:prstGeom>
          <a:solidFill>
            <a:srgbClr val="67DDFF"/>
          </a:solidFill>
          <a:ln w="12700">
            <a:solidFill>
              <a:srgbClr val="67DD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33272" y="41148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펜·도형·Socket.IO 연동</a:t>
            </a:r>
            <a:endParaRPr lang="en-US" sz="1160" dirty="0"/>
          </a:p>
        </p:txBody>
      </p:sp>
      <p:sp>
        <p:nvSpPr>
          <p:cNvPr id="39" name="Shape 37"/>
          <p:cNvSpPr/>
          <p:nvPr/>
        </p:nvSpPr>
        <p:spPr>
          <a:xfrm>
            <a:off x="859536" y="4663440"/>
            <a:ext cx="2916936" cy="0"/>
          </a:xfrm>
          <a:prstGeom prst="line">
            <a:avLst/>
          </a:prstGeom>
          <a:noFill/>
          <a:ln w="10160">
            <a:solidFill>
              <a:srgbClr val="41608E"/>
            </a:solidFill>
            <a:prstDash val="solid"/>
            <a:headEnd type="none"/>
            <a:tailEnd type="none"/>
          </a:ln>
        </p:spPr>
      </p:sp>
      <p:sp>
        <p:nvSpPr>
          <p:cNvPr id="40" name="Text 38"/>
          <p:cNvSpPr/>
          <p:nvPr/>
        </p:nvSpPr>
        <p:spPr>
          <a:xfrm>
            <a:off x="868680" y="4764024"/>
            <a:ext cx="295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완료 기준  최소 2대에서 펜 공유</a:t>
            </a:r>
            <a:endParaRPr lang="en-US" sz="1060" dirty="0"/>
          </a:p>
        </p:txBody>
      </p:sp>
      <p:sp>
        <p:nvSpPr>
          <p:cNvPr id="41" name="Shape 39"/>
          <p:cNvSpPr/>
          <p:nvPr/>
        </p:nvSpPr>
        <p:spPr>
          <a:xfrm>
            <a:off x="4325112" y="2148840"/>
            <a:ext cx="3474720" cy="2935224"/>
          </a:xfrm>
          <a:prstGeom prst="roundRect">
            <a:avLst>
              <a:gd name="adj" fmla="val 3738"/>
            </a:avLst>
          </a:prstGeom>
          <a:solidFill>
            <a:srgbClr val="142449"/>
          </a:solidFill>
          <a:ln w="11430">
            <a:solidFill>
              <a:srgbClr val="7253B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29784" y="2048256"/>
            <a:ext cx="1847088" cy="329184"/>
          </a:xfrm>
          <a:prstGeom prst="roundRect">
            <a:avLst>
              <a:gd name="adj" fmla="val 33333"/>
            </a:avLst>
          </a:prstGeom>
          <a:solidFill>
            <a:srgbClr val="35266B"/>
          </a:solidFill>
          <a:ln w="11430">
            <a:solidFill>
              <a:srgbClr val="7960C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02936" y="2048256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2주 차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4572000" y="2660904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기능 완성</a:t>
            </a:r>
            <a:endParaRPr lang="en-US" sz="1920" dirty="0"/>
          </a:p>
        </p:txBody>
      </p:sp>
      <p:sp>
        <p:nvSpPr>
          <p:cNvPr id="45" name="Shape 43"/>
          <p:cNvSpPr/>
          <p:nvPr/>
        </p:nvSpPr>
        <p:spPr>
          <a:xfrm>
            <a:off x="4590288" y="3419856"/>
            <a:ext cx="64008" cy="64008"/>
          </a:xfrm>
          <a:prstGeom prst="ellipse">
            <a:avLst/>
          </a:prstGeom>
          <a:solidFill>
            <a:srgbClr val="A98BFF"/>
          </a:solidFill>
          <a:ln w="12700">
            <a:solidFill>
              <a:srgbClr val="A98BF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64024" y="32735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4인 커서·객체 잠금</a:t>
            </a:r>
            <a:endParaRPr lang="en-US" sz="1160" dirty="0"/>
          </a:p>
        </p:txBody>
      </p:sp>
      <p:sp>
        <p:nvSpPr>
          <p:cNvPr id="47" name="Shape 45"/>
          <p:cNvSpPr/>
          <p:nvPr/>
        </p:nvSpPr>
        <p:spPr>
          <a:xfrm>
            <a:off x="4590288" y="3840480"/>
            <a:ext cx="64008" cy="64008"/>
          </a:xfrm>
          <a:prstGeom prst="ellipse">
            <a:avLst/>
          </a:prstGeom>
          <a:solidFill>
            <a:srgbClr val="A98BFF"/>
          </a:solidFill>
          <a:ln w="12700">
            <a:solidFill>
              <a:srgbClr val="A98B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64024" y="36941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이미지·파일·영상 임베드</a:t>
            </a:r>
            <a:endParaRPr lang="en-US" sz="1160" dirty="0"/>
          </a:p>
        </p:txBody>
      </p:sp>
      <p:sp>
        <p:nvSpPr>
          <p:cNvPr id="49" name="Shape 47"/>
          <p:cNvSpPr/>
          <p:nvPr/>
        </p:nvSpPr>
        <p:spPr>
          <a:xfrm>
            <a:off x="4590288" y="4261104"/>
            <a:ext cx="64008" cy="64008"/>
          </a:xfrm>
          <a:prstGeom prst="ellipse">
            <a:avLst/>
          </a:prstGeom>
          <a:solidFill>
            <a:srgbClr val="A98BFF"/>
          </a:solidFill>
          <a:ln w="12700">
            <a:solidFill>
              <a:srgbClr val="A98BFF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64024" y="41148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최종 저장·재접속 복원</a:t>
            </a:r>
            <a:endParaRPr lang="en-US" sz="1160" dirty="0"/>
          </a:p>
        </p:txBody>
      </p:sp>
      <p:sp>
        <p:nvSpPr>
          <p:cNvPr id="51" name="Shape 49"/>
          <p:cNvSpPr/>
          <p:nvPr/>
        </p:nvSpPr>
        <p:spPr>
          <a:xfrm>
            <a:off x="4590288" y="4663440"/>
            <a:ext cx="2916936" cy="0"/>
          </a:xfrm>
          <a:prstGeom prst="line">
            <a:avLst/>
          </a:prstGeom>
          <a:noFill/>
          <a:ln w="10160">
            <a:solidFill>
              <a:srgbClr val="41608E"/>
            </a:solidFill>
            <a:prstDash val="solid"/>
            <a:headEnd type="none"/>
            <a:tailEnd type="none"/>
          </a:ln>
        </p:spPr>
      </p:sp>
      <p:sp>
        <p:nvSpPr>
          <p:cNvPr id="52" name="Text 50"/>
          <p:cNvSpPr/>
          <p:nvPr/>
        </p:nvSpPr>
        <p:spPr>
          <a:xfrm>
            <a:off x="4599432" y="4764024"/>
            <a:ext cx="295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완료 기준  4인 동시 편집·복원</a:t>
            </a:r>
            <a:endParaRPr lang="en-US" sz="1060" dirty="0"/>
          </a:p>
        </p:txBody>
      </p:sp>
      <p:sp>
        <p:nvSpPr>
          <p:cNvPr id="53" name="Shape 51"/>
          <p:cNvSpPr/>
          <p:nvPr/>
        </p:nvSpPr>
        <p:spPr>
          <a:xfrm>
            <a:off x="8065008" y="2148840"/>
            <a:ext cx="3474720" cy="2935224"/>
          </a:xfrm>
          <a:prstGeom prst="roundRect">
            <a:avLst>
              <a:gd name="adj" fmla="val 3738"/>
            </a:avLst>
          </a:prstGeom>
          <a:solidFill>
            <a:srgbClr val="142449"/>
          </a:solidFill>
          <a:ln w="11430">
            <a:solidFill>
              <a:srgbClr val="81539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69680" y="2048256"/>
            <a:ext cx="1847088" cy="329184"/>
          </a:xfrm>
          <a:prstGeom prst="roundRect">
            <a:avLst>
              <a:gd name="adj" fmla="val 33333"/>
            </a:avLst>
          </a:prstGeom>
          <a:solidFill>
            <a:srgbClr val="43265D"/>
          </a:solidFill>
          <a:ln w="11430">
            <a:solidFill>
              <a:srgbClr val="9B61B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42832" y="2048256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49A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3주 차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8311896" y="2660904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b="1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통합 및 시연</a:t>
            </a:r>
            <a:endParaRPr lang="en-US" sz="1920" dirty="0"/>
          </a:p>
        </p:txBody>
      </p:sp>
      <p:sp>
        <p:nvSpPr>
          <p:cNvPr id="57" name="Shape 55"/>
          <p:cNvSpPr/>
          <p:nvPr/>
        </p:nvSpPr>
        <p:spPr>
          <a:xfrm>
            <a:off x="8330184" y="3419856"/>
            <a:ext cx="64008" cy="64008"/>
          </a:xfrm>
          <a:prstGeom prst="ellipse">
            <a:avLst/>
          </a:prstGeom>
          <a:solidFill>
            <a:srgbClr val="E49AFA"/>
          </a:solidFill>
          <a:ln w="12700">
            <a:solidFill>
              <a:srgbClr val="E49AFA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503920" y="32735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업무 블럭·초대 일부 추가</a:t>
            </a:r>
            <a:endParaRPr lang="en-US" sz="1160" dirty="0"/>
          </a:p>
        </p:txBody>
      </p:sp>
      <p:sp>
        <p:nvSpPr>
          <p:cNvPr id="59" name="Shape 57"/>
          <p:cNvSpPr/>
          <p:nvPr/>
        </p:nvSpPr>
        <p:spPr>
          <a:xfrm>
            <a:off x="8330184" y="3840480"/>
            <a:ext cx="64008" cy="64008"/>
          </a:xfrm>
          <a:prstGeom prst="ellipse">
            <a:avLst/>
          </a:prstGeom>
          <a:solidFill>
            <a:srgbClr val="E49AFA"/>
          </a:solidFill>
          <a:ln w="12700">
            <a:solidFill>
              <a:srgbClr val="E49AFA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03920" y="36941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오류 수정·성능 점검</a:t>
            </a:r>
            <a:endParaRPr lang="en-US" sz="1160" dirty="0"/>
          </a:p>
        </p:txBody>
      </p:sp>
      <p:sp>
        <p:nvSpPr>
          <p:cNvPr id="61" name="Shape 59"/>
          <p:cNvSpPr/>
          <p:nvPr/>
        </p:nvSpPr>
        <p:spPr>
          <a:xfrm>
            <a:off x="8330184" y="4261104"/>
            <a:ext cx="64008" cy="64008"/>
          </a:xfrm>
          <a:prstGeom prst="ellipse">
            <a:avLst/>
          </a:prstGeom>
          <a:solidFill>
            <a:srgbClr val="E49AFA"/>
          </a:solidFill>
          <a:ln w="12700">
            <a:solidFill>
              <a:srgbClr val="E49AFA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03920" y="41148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발표·실제 4대 PC 시연</a:t>
            </a:r>
            <a:endParaRPr lang="en-US" sz="1160" dirty="0"/>
          </a:p>
        </p:txBody>
      </p:sp>
      <p:sp>
        <p:nvSpPr>
          <p:cNvPr id="63" name="Shape 61"/>
          <p:cNvSpPr/>
          <p:nvPr/>
        </p:nvSpPr>
        <p:spPr>
          <a:xfrm>
            <a:off x="8330184" y="4663440"/>
            <a:ext cx="2916936" cy="0"/>
          </a:xfrm>
          <a:prstGeom prst="line">
            <a:avLst/>
          </a:prstGeom>
          <a:noFill/>
          <a:ln w="10160">
            <a:solidFill>
              <a:srgbClr val="41608E"/>
            </a:solidFill>
            <a:prstDash val="solid"/>
            <a:headEnd type="none"/>
            <a:tailEnd type="none"/>
          </a:ln>
        </p:spPr>
      </p:sp>
      <p:sp>
        <p:nvSpPr>
          <p:cNvPr id="64" name="Text 62"/>
          <p:cNvSpPr/>
          <p:nvPr/>
        </p:nvSpPr>
        <p:spPr>
          <a:xfrm>
            <a:off x="8339328" y="4764024"/>
            <a:ext cx="295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E49A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완료 기준  시연 흐름 중단 없음</a:t>
            </a:r>
            <a:endParaRPr lang="en-US" sz="1060" dirty="0"/>
          </a:p>
        </p:txBody>
      </p:sp>
      <p:sp>
        <p:nvSpPr>
          <p:cNvPr id="65" name="Shape 63"/>
          <p:cNvSpPr/>
          <p:nvPr/>
        </p:nvSpPr>
        <p:spPr>
          <a:xfrm>
            <a:off x="640080" y="5330952"/>
            <a:ext cx="7351776" cy="868680"/>
          </a:xfrm>
          <a:prstGeom prst="roundRect">
            <a:avLst>
              <a:gd name="adj" fmla="val 12632"/>
            </a:avLst>
          </a:prstGeom>
          <a:solidFill>
            <a:srgbClr val="11284B"/>
          </a:solidFill>
          <a:ln w="11430">
            <a:solidFill>
              <a:srgbClr val="3361A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96112" y="5495544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최종 시연 목표</a:t>
            </a:r>
            <a:endParaRPr lang="en-US" sz="1450" dirty="0"/>
          </a:p>
        </p:txBody>
      </p:sp>
      <p:sp>
        <p:nvSpPr>
          <p:cNvPr id="67" name="Text 65"/>
          <p:cNvSpPr/>
          <p:nvPr/>
        </p:nvSpPr>
        <p:spPr>
          <a:xfrm>
            <a:off x="2816352" y="5541264"/>
            <a:ext cx="4846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7F9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4명 동시 접속  ·  실시간 편집  ·  미디어 공유  ·  저장 복원</a:t>
            </a:r>
            <a:endParaRPr lang="en-US" sz="1220" dirty="0"/>
          </a:p>
        </p:txBody>
      </p:sp>
      <p:sp>
        <p:nvSpPr>
          <p:cNvPr id="68" name="Shape 66"/>
          <p:cNvSpPr/>
          <p:nvPr/>
        </p:nvSpPr>
        <p:spPr>
          <a:xfrm>
            <a:off x="8138160" y="5330952"/>
            <a:ext cx="3392424" cy="868680"/>
          </a:xfrm>
          <a:prstGeom prst="roundRect">
            <a:avLst>
              <a:gd name="adj" fmla="val 12632"/>
            </a:avLst>
          </a:prstGeom>
          <a:solidFill>
            <a:srgbClr val="1D244A"/>
          </a:solidFill>
          <a:ln w="11430">
            <a:solidFill>
              <a:srgbClr val="66539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385048" y="545896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A98B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후속 개발</a:t>
            </a:r>
            <a:endParaRPr lang="en-US" sz="1240" dirty="0"/>
          </a:p>
        </p:txBody>
      </p:sp>
      <p:sp>
        <p:nvSpPr>
          <p:cNvPr id="70" name="Text 68"/>
          <p:cNvSpPr/>
          <p:nvPr/>
        </p:nvSpPr>
        <p:spPr>
          <a:xfrm>
            <a:off x="8385048" y="5797296"/>
            <a:ext cx="2807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EBE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고급 표 · 흐름도 자동 정렬 · 고급 업무</a:t>
            </a:r>
            <a:endParaRPr lang="en-US" sz="1080" dirty="0"/>
          </a:p>
        </p:txBody>
      </p:sp>
      <p:sp>
        <p:nvSpPr>
          <p:cNvPr id="71" name="Text 69"/>
          <p:cNvSpPr/>
          <p:nvPr/>
        </p:nvSpPr>
        <p:spPr>
          <a:xfrm>
            <a:off x="941832" y="6318504"/>
            <a:ext cx="10314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67DD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핵심은 기능 수보다 안정적인 실시간 협업 경험입니다.</a:t>
            </a:r>
            <a:endParaRPr lang="en-US" sz="11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Web Server Team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TaskCanvas | 팀 프로젝트 제안서</dc:title>
  <dc:subject>실시간 협업 화이트보드 기반 프로젝트 관리 팀 프로젝트 제안서</dc:subject>
  <dc:creator>ChatGPT</dc:creator>
  <cp:lastModifiedBy>ChatGPT</cp:lastModifiedBy>
  <cp:revision>1</cp:revision>
  <dcterms:created xsi:type="dcterms:W3CDTF">2026-10-08T02:30:42Z</dcterms:created>
  <dcterms:modified xsi:type="dcterms:W3CDTF">2026-10-08T02:30:42Z</dcterms:modified>
</cp:coreProperties>
</file>